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Leelawadee Bold" charset="1" panose="020B0802040204020203"/>
      <p:regular r:id="rId22"/>
    </p:embeddedFont>
    <p:embeddedFont>
      <p:font typeface="Leelawadee" charset="1" panose="020B05020402040202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jpe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2606040"/>
            <a:ext cx="16641623" cy="2606040"/>
            <a:chOff x="0" y="0"/>
            <a:chExt cx="22188830" cy="3474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88830" cy="3474720"/>
            </a:xfrm>
            <a:custGeom>
              <a:avLst/>
              <a:gdLst/>
              <a:ahLst/>
              <a:cxnLst/>
              <a:rect r="r" b="b" t="t" l="l"/>
              <a:pathLst>
                <a:path h="347472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427" r="0" b="-7442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88830" cy="348424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Leelawadee Bold"/>
                  <a:ea typeface="Leelawadee Bold"/>
                  <a:cs typeface="Leelawadee Bold"/>
                  <a:sym typeface="Leelawadee Bold"/>
                </a:rPr>
                <a:t>Earthquake Analytics on Complex Data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2960" y="5476875"/>
            <a:ext cx="16641623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86B6EF"/>
                </a:solidFill>
                <a:latin typeface="Leelawadee"/>
                <a:ea typeface="Leelawadee"/>
                <a:cs typeface="Leelawadee"/>
                <a:sym typeface="Leelawadee"/>
              </a:rPr>
              <a:t>วิเคราะห์ข้อมูลแผ่นดินไหวทั่วโลกจาก USGS ขนาด 4.5 ขึ้นไป ตั้งแต่ปี 2000 ถึงปัจจุบัน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86B6EF"/>
                </a:solidFill>
                <a:latin typeface="Leelawadee"/>
                <a:ea typeface="Leelawadee"/>
                <a:cs typeface="Leelawadee"/>
                <a:sym typeface="Leelawadee"/>
              </a:rPr>
              <a:t> 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EB6834"/>
                </a:solidFill>
                <a:latin typeface="Leelawadee"/>
                <a:ea typeface="Leelawadee"/>
                <a:cs typeface="Leelawadee"/>
                <a:sym typeface="Leelawadee"/>
              </a:rPr>
              <a:t>ปุณณวิชญ์ คล้ายรักษ  6710504115  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EB6834"/>
                </a:solidFill>
                <a:latin typeface="Leelawadee"/>
                <a:ea typeface="Leelawadee"/>
                <a:cs typeface="Leelawadee"/>
                <a:sym typeface="Leelawadee"/>
              </a:rPr>
              <a:t>พีรณัฐ ทัศนวิญญู    6710504191   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EB6834"/>
                </a:solidFill>
                <a:latin typeface="Leelawadee"/>
                <a:ea typeface="Leelawadee"/>
                <a:cs typeface="Leelawadee"/>
                <a:sym typeface="Leelawadee"/>
              </a:rPr>
              <a:t>ศรัณย์ ชัยกุลเสรีวงค์    6710504361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2514E"/>
                  </a:solidFill>
                  <a:latin typeface="Leelawadee"/>
                  <a:ea typeface="Leelawadee"/>
                  <a:cs typeface="Leelawadee"/>
                  <a:sym typeface="Leelawadee"/>
                </a:rPr>
                <a:t>Earthquake Analytics on Complex Data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2960" y="411480"/>
            <a:ext cx="16641623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A78D6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1 · Complex Data? Applications?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2960" y="877824"/>
            <a:ext cx="16641623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B0B0B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แผ่นดินไหว 187,547 ครั้ง เรียงตัวตามแนวรอยต่อแผ่นเปลือกโลก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22960" y="3053305"/>
            <a:ext cx="11795760" cy="5483409"/>
            <a:chOff x="0" y="0"/>
            <a:chExt cx="15727680" cy="7311212"/>
          </a:xfrm>
        </p:grpSpPr>
        <p:sp>
          <p:nvSpPr>
            <p:cNvPr name="Freeform 8" id="8" descr="แผนที่แผ่นดินไหว M4.5+ ตั้งแต่ปี 2000"/>
            <p:cNvSpPr/>
            <p:nvPr/>
          </p:nvSpPr>
          <p:spPr>
            <a:xfrm flipH="false" flipV="false" rot="0">
              <a:off x="0" y="0"/>
              <a:ext cx="15727680" cy="7311263"/>
            </a:xfrm>
            <a:custGeom>
              <a:avLst/>
              <a:gdLst/>
              <a:ahLst/>
              <a:cxnLst/>
              <a:rect r="r" b="b" t="t" l="l"/>
              <a:pathLst>
                <a:path h="7311263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7311263"/>
                  </a:lnTo>
                  <a:lnTo>
                    <a:pt x="0" y="7311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091636" y="2187416"/>
            <a:ext cx="4375976" cy="7146607"/>
            <a:chOff x="0" y="0"/>
            <a:chExt cx="5834634" cy="95288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834634" cy="9528810"/>
            </a:xfrm>
            <a:custGeom>
              <a:avLst/>
              <a:gdLst/>
              <a:ahLst/>
              <a:cxnLst/>
              <a:rect r="r" b="b" t="t" l="l"/>
              <a:pathLst>
                <a:path h="9528810" w="5834634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5687822" y="0"/>
                  </a:lnTo>
                  <a:cubicBezTo>
                    <a:pt x="5768848" y="0"/>
                    <a:pt x="5834634" y="65786"/>
                    <a:pt x="5834634" y="146812"/>
                  </a:cubicBezTo>
                  <a:lnTo>
                    <a:pt x="5834634" y="9381998"/>
                  </a:lnTo>
                  <a:cubicBezTo>
                    <a:pt x="5834634" y="9463024"/>
                    <a:pt x="5768848" y="9528810"/>
                    <a:pt x="5687822" y="9528810"/>
                  </a:cubicBezTo>
                  <a:lnTo>
                    <a:pt x="146812" y="9528810"/>
                  </a:lnTo>
                  <a:cubicBezTo>
                    <a:pt x="65786" y="9528810"/>
                    <a:pt x="0" y="9463024"/>
                    <a:pt x="0" y="938199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4E3D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3441680" y="2400300"/>
            <a:ext cx="3771900" cy="960120"/>
            <a:chOff x="0" y="0"/>
            <a:chExt cx="5029200" cy="12801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29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548" r="0" b="-2654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029200" cy="128968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A78D6"/>
                  </a:solidFill>
                  <a:latin typeface="Leelawadee Bold"/>
                  <a:ea typeface="Leelawadee Bold"/>
                  <a:cs typeface="Leelawadee Bold"/>
                  <a:sym typeface="Leelawadee Bold"/>
                </a:rPr>
                <a:t>187,547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441680" y="3429000"/>
            <a:ext cx="377190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เหตุการณ์หลังทำความสะอาด (USGS API, CSV)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441680" y="4663440"/>
            <a:ext cx="3771900" cy="960120"/>
            <a:chOff x="0" y="0"/>
            <a:chExt cx="5029200" cy="12801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29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548" r="0" b="-2654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5029200" cy="128968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A78D6"/>
                  </a:solidFill>
                  <a:latin typeface="Leelawadee Bold"/>
                  <a:ea typeface="Leelawadee Bold"/>
                  <a:cs typeface="Leelawadee Bold"/>
                  <a:sym typeface="Leelawadee Bold"/>
                </a:rPr>
                <a:t>26 ปี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441680" y="5692140"/>
            <a:ext cx="377190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ม.ค. 2000 ถึง 10 ต.ค. 2026 และอัปเดตข้อมูลสดได้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441680" y="6926580"/>
            <a:ext cx="3771900" cy="960120"/>
            <a:chOff x="0" y="0"/>
            <a:chExt cx="5029200" cy="12801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29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548" r="0" b="-2654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5029200" cy="128968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A78D6"/>
                  </a:solidFill>
                  <a:latin typeface="Leelawadee Bold"/>
                  <a:ea typeface="Leelawadee Bold"/>
                  <a:cs typeface="Leelawadee Bold"/>
                  <a:sym typeface="Leelawadee Bold"/>
                </a:rPr>
                <a:t>1,206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441680" y="7955280"/>
            <a:ext cx="377190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ช่องตาราง 5° ที่มีแผ่นดินไหว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733063" y="9637395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2514E"/>
                </a:solidFill>
                <a:latin typeface="Leelawadee"/>
                <a:ea typeface="Leelawadee"/>
                <a:cs typeface="Leelawadee"/>
                <a:sym typeface="Leelawade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2514E"/>
                  </a:solidFill>
                  <a:latin typeface="Leelawadee"/>
                  <a:ea typeface="Leelawadee"/>
                  <a:cs typeface="Leelawadee"/>
                  <a:sym typeface="Leelawadee"/>
                </a:rPr>
                <a:t>Earthquake Analytics on Complex Data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2960" y="411480"/>
            <a:ext cx="16641623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A78D6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1 · Complex Data? Applications?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2960" y="877824"/>
            <a:ext cx="16641623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B0B0B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ซับซ้อน 5 ด้าน ไม่ใช่แค่ CSV ธรรมดา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15816" y="2187416"/>
            <a:ext cx="3068288" cy="3168967"/>
            <a:chOff x="0" y="0"/>
            <a:chExt cx="4091051" cy="42252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91051" cy="4225290"/>
            </a:xfrm>
            <a:custGeom>
              <a:avLst/>
              <a:gdLst/>
              <a:ahLst/>
              <a:cxnLst/>
              <a:rect r="r" b="b" t="t" l="l"/>
              <a:pathLst>
                <a:path h="4225290" w="4091051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3944112" y="0"/>
                  </a:lnTo>
                  <a:cubicBezTo>
                    <a:pt x="4025265" y="0"/>
                    <a:pt x="4091051" y="65786"/>
                    <a:pt x="4091051" y="146939"/>
                  </a:cubicBezTo>
                  <a:lnTo>
                    <a:pt x="4091051" y="4078351"/>
                  </a:lnTo>
                  <a:cubicBezTo>
                    <a:pt x="4091051" y="4159504"/>
                    <a:pt x="4025265" y="4225290"/>
                    <a:pt x="3944112" y="4225290"/>
                  </a:cubicBezTo>
                  <a:lnTo>
                    <a:pt x="146939" y="4225290"/>
                  </a:lnTo>
                  <a:cubicBezTo>
                    <a:pt x="65786" y="4225290"/>
                    <a:pt x="0" y="4159504"/>
                    <a:pt x="0" y="407835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4E3D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97280" y="2331720"/>
            <a:ext cx="685800" cy="685800"/>
            <a:chOff x="0" y="0"/>
            <a:chExt cx="9144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EB6834"/>
                  </a:solidFill>
                  <a:latin typeface="Leelawadee Bold"/>
                  <a:ea typeface="Leelawadee Bold"/>
                  <a:cs typeface="Leelawadee Bold"/>
                  <a:sym typeface="Leelawadee Bold"/>
                </a:rPr>
                <a:t>1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97280" y="3007995"/>
            <a:ext cx="2505361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B0B0B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Spatial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7280" y="4036695"/>
            <a:ext cx="2505361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52514E"/>
                </a:solidFill>
                <a:latin typeface="Leelawadee"/>
                <a:ea typeface="Leelawadee"/>
                <a:cs typeface="Leelawadee"/>
                <a:sym typeface="Leelawadee"/>
              </a:rPr>
              <a:t>คิดระยะบนผิวโลกด้วย haversine เพราะ 1° ลองจิจูดสั้นลงตามละติจูด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212717" y="2187416"/>
            <a:ext cx="3068288" cy="3168967"/>
            <a:chOff x="0" y="0"/>
            <a:chExt cx="4091051" cy="42252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91051" cy="4225290"/>
            </a:xfrm>
            <a:custGeom>
              <a:avLst/>
              <a:gdLst/>
              <a:ahLst/>
              <a:cxnLst/>
              <a:rect r="r" b="b" t="t" l="l"/>
              <a:pathLst>
                <a:path h="4225290" w="4091051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3944112" y="0"/>
                  </a:lnTo>
                  <a:cubicBezTo>
                    <a:pt x="4025265" y="0"/>
                    <a:pt x="4091051" y="65786"/>
                    <a:pt x="4091051" y="146939"/>
                  </a:cubicBezTo>
                  <a:lnTo>
                    <a:pt x="4091051" y="4078351"/>
                  </a:lnTo>
                  <a:cubicBezTo>
                    <a:pt x="4091051" y="4159504"/>
                    <a:pt x="4025265" y="4225290"/>
                    <a:pt x="3944112" y="4225290"/>
                  </a:cubicBezTo>
                  <a:lnTo>
                    <a:pt x="146939" y="4225290"/>
                  </a:lnTo>
                  <a:cubicBezTo>
                    <a:pt x="65786" y="4225290"/>
                    <a:pt x="0" y="4159504"/>
                    <a:pt x="0" y="407835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4E3DF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4494181" y="2331720"/>
            <a:ext cx="685800" cy="685800"/>
            <a:chOff x="0" y="0"/>
            <a:chExt cx="914400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EB6834"/>
                  </a:solidFill>
                  <a:latin typeface="Leelawadee Bold"/>
                  <a:ea typeface="Leelawadee Bold"/>
                  <a:cs typeface="Leelawadee Bold"/>
                  <a:sym typeface="Leelawadee Bold"/>
                </a:rPr>
                <a:t>2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4494181" y="3007995"/>
            <a:ext cx="2505361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B0B0B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Time series + Streaming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494181" y="4036695"/>
            <a:ext cx="2505361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52514E"/>
                </a:solidFill>
                <a:latin typeface="Leelawadee"/>
                <a:ea typeface="Leelawadee"/>
                <a:cs typeface="Leelawadee"/>
                <a:sym typeface="Leelawadee"/>
              </a:rPr>
              <a:t>USGS เพิ่มและแก้ข้อมูลตลอด ได้เหตุการณ์ใหม่ 69 ครั้งใน 48.5 ชม.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609627" y="2187416"/>
            <a:ext cx="3068288" cy="3168967"/>
            <a:chOff x="0" y="0"/>
            <a:chExt cx="4091051" cy="422529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91051" cy="4225290"/>
            </a:xfrm>
            <a:custGeom>
              <a:avLst/>
              <a:gdLst/>
              <a:ahLst/>
              <a:cxnLst/>
              <a:rect r="r" b="b" t="t" l="l"/>
              <a:pathLst>
                <a:path h="4225290" w="4091051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3944112" y="0"/>
                  </a:lnTo>
                  <a:cubicBezTo>
                    <a:pt x="4025265" y="0"/>
                    <a:pt x="4091051" y="65786"/>
                    <a:pt x="4091051" y="146939"/>
                  </a:cubicBezTo>
                  <a:lnTo>
                    <a:pt x="4091051" y="4078351"/>
                  </a:lnTo>
                  <a:cubicBezTo>
                    <a:pt x="4091051" y="4159504"/>
                    <a:pt x="4025265" y="4225290"/>
                    <a:pt x="3944112" y="4225290"/>
                  </a:cubicBezTo>
                  <a:lnTo>
                    <a:pt x="146939" y="4225290"/>
                  </a:lnTo>
                  <a:cubicBezTo>
                    <a:pt x="65786" y="4225290"/>
                    <a:pt x="0" y="4159504"/>
                    <a:pt x="0" y="407835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4E3DF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7891091" y="2331720"/>
            <a:ext cx="685800" cy="685800"/>
            <a:chOff x="0" y="0"/>
            <a:chExt cx="91440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EB6834"/>
                  </a:solidFill>
                  <a:latin typeface="Leelawadee Bold"/>
                  <a:ea typeface="Leelawadee Bold"/>
                  <a:cs typeface="Leelawadee Bold"/>
                  <a:sym typeface="Leelawadee Bold"/>
                </a:rPr>
                <a:t>3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891091" y="3007995"/>
            <a:ext cx="2505361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B0B0B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Imbalanced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891091" y="4036695"/>
            <a:ext cx="2505361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52514E"/>
                </a:solidFill>
                <a:latin typeface="Leelawadee"/>
                <a:ea typeface="Leelawadee"/>
                <a:cs typeface="Leelawadee"/>
                <a:sym typeface="Leelawadee"/>
              </a:rPr>
              <a:t>M6.5+ มีแค่ 1,218 ครั้ง (0.65%) เล็กต่อใหญ่ 153 ต่อ 1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006528" y="2187416"/>
            <a:ext cx="3068288" cy="3168967"/>
            <a:chOff x="0" y="0"/>
            <a:chExt cx="4091051" cy="422529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091051" cy="4225290"/>
            </a:xfrm>
            <a:custGeom>
              <a:avLst/>
              <a:gdLst/>
              <a:ahLst/>
              <a:cxnLst/>
              <a:rect r="r" b="b" t="t" l="l"/>
              <a:pathLst>
                <a:path h="4225290" w="4091051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3944112" y="0"/>
                  </a:lnTo>
                  <a:cubicBezTo>
                    <a:pt x="4025265" y="0"/>
                    <a:pt x="4091051" y="65786"/>
                    <a:pt x="4091051" y="146939"/>
                  </a:cubicBezTo>
                  <a:lnTo>
                    <a:pt x="4091051" y="4078351"/>
                  </a:lnTo>
                  <a:cubicBezTo>
                    <a:pt x="4091051" y="4159504"/>
                    <a:pt x="4025265" y="4225290"/>
                    <a:pt x="3944112" y="4225290"/>
                  </a:cubicBezTo>
                  <a:lnTo>
                    <a:pt x="146939" y="4225290"/>
                  </a:lnTo>
                  <a:cubicBezTo>
                    <a:pt x="65786" y="4225290"/>
                    <a:pt x="0" y="4159504"/>
                    <a:pt x="0" y="407835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4E3D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1287992" y="2331720"/>
            <a:ext cx="685800" cy="685800"/>
            <a:chOff x="0" y="0"/>
            <a:chExt cx="914400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EB6834"/>
                  </a:solidFill>
                  <a:latin typeface="Leelawadee Bold"/>
                  <a:ea typeface="Leelawadee Bold"/>
                  <a:cs typeface="Leelawadee Bold"/>
                  <a:sym typeface="Leelawadee Bold"/>
                </a:rPr>
                <a:t>4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1287992" y="3007995"/>
            <a:ext cx="2505361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B0B0B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Diverse sources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287992" y="4036695"/>
            <a:ext cx="2505361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52514E"/>
                </a:solidFill>
                <a:latin typeface="Leelawadee"/>
                <a:ea typeface="Leelawadee"/>
                <a:cs typeface="Leelawadee"/>
                <a:sym typeface="Leelawadee"/>
              </a:rPr>
              <a:t>หลายเครือข่ายวัด สเกลขนาด 19 แบบ (mb 78%)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4403438" y="2187416"/>
            <a:ext cx="3068288" cy="3168967"/>
            <a:chOff x="0" y="0"/>
            <a:chExt cx="4091051" cy="42252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091051" cy="4225290"/>
            </a:xfrm>
            <a:custGeom>
              <a:avLst/>
              <a:gdLst/>
              <a:ahLst/>
              <a:cxnLst/>
              <a:rect r="r" b="b" t="t" l="l"/>
              <a:pathLst>
                <a:path h="4225290" w="4091051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3944112" y="0"/>
                  </a:lnTo>
                  <a:cubicBezTo>
                    <a:pt x="4025265" y="0"/>
                    <a:pt x="4091051" y="65786"/>
                    <a:pt x="4091051" y="146939"/>
                  </a:cubicBezTo>
                  <a:lnTo>
                    <a:pt x="4091051" y="4078351"/>
                  </a:lnTo>
                  <a:cubicBezTo>
                    <a:pt x="4091051" y="4159504"/>
                    <a:pt x="4025265" y="4225290"/>
                    <a:pt x="3944112" y="4225290"/>
                  </a:cubicBezTo>
                  <a:lnTo>
                    <a:pt x="146939" y="4225290"/>
                  </a:lnTo>
                  <a:cubicBezTo>
                    <a:pt x="65786" y="4225290"/>
                    <a:pt x="0" y="4159504"/>
                    <a:pt x="0" y="407835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4E3DF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4684902" y="2331720"/>
            <a:ext cx="685800" cy="685800"/>
            <a:chOff x="0" y="0"/>
            <a:chExt cx="914400" cy="91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EB6834"/>
                  </a:solidFill>
                  <a:latin typeface="Leelawadee Bold"/>
                  <a:ea typeface="Leelawadee Bold"/>
                  <a:cs typeface="Leelawadee Bold"/>
                  <a:sym typeface="Leelawadee Bold"/>
                </a:rPr>
                <a:t>5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4684902" y="3007995"/>
            <a:ext cx="2505361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B0B0B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Missing / Noisy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684902" y="4036695"/>
            <a:ext cx="2505361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52514E"/>
                </a:solidFill>
                <a:latin typeface="Leelawadee"/>
                <a:ea typeface="Leelawadee"/>
                <a:cs typeface="Leelawadee"/>
                <a:sym typeface="Leelawadee"/>
              </a:rPr>
              <a:t>คอลัมน์คุณภาพหายถึง 52% ความลึก 46% เป็นค่าตั้งต้น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4856645" y="5623560"/>
            <a:ext cx="8574243" cy="3771900"/>
            <a:chOff x="0" y="0"/>
            <a:chExt cx="11432324" cy="5029200"/>
          </a:xfrm>
        </p:grpSpPr>
        <p:sp>
          <p:nvSpPr>
            <p:cNvPr name="Freeform 43" id="43" descr="สัดส่วนแผ่นดินไหวใหญ่"/>
            <p:cNvSpPr/>
            <p:nvPr/>
          </p:nvSpPr>
          <p:spPr>
            <a:xfrm flipH="false" flipV="false" rot="0">
              <a:off x="0" y="0"/>
              <a:ext cx="11432286" cy="5029200"/>
            </a:xfrm>
            <a:custGeom>
              <a:avLst/>
              <a:gdLst/>
              <a:ahLst/>
              <a:cxnLst/>
              <a:rect r="r" b="b" t="t" l="l"/>
              <a:pathLst>
                <a:path h="5029200" w="11432286">
                  <a:moveTo>
                    <a:pt x="0" y="0"/>
                  </a:moveTo>
                  <a:lnTo>
                    <a:pt x="11432286" y="0"/>
                  </a:lnTo>
                  <a:lnTo>
                    <a:pt x="11432286" y="5029200"/>
                  </a:lnTo>
                  <a:lnTo>
                    <a:pt x="0" y="502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6733063" y="9637395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2514E"/>
                </a:solidFill>
                <a:latin typeface="Leelawadee"/>
                <a:ea typeface="Leelawadee"/>
                <a:cs typeface="Leelawadee"/>
                <a:sym typeface="Leelawade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2514E"/>
                  </a:solidFill>
                  <a:latin typeface="Leelawadee"/>
                  <a:ea typeface="Leelawadee"/>
                  <a:cs typeface="Leelawadee"/>
                  <a:sym typeface="Leelawadee"/>
                </a:rPr>
                <a:t>Earthquake Analytics on Complex Data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2960" y="411480"/>
            <a:ext cx="16641623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A78D6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2 · Complex Data Exploration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2960" y="877824"/>
            <a:ext cx="16641623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B0B0B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แผ่นดินไหวเกิดเป็นช่วง ๆ ไม่สม่ำเสมอ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22960" y="2440572"/>
            <a:ext cx="11521440" cy="6708877"/>
            <a:chOff x="0" y="0"/>
            <a:chExt cx="15361920" cy="8945169"/>
          </a:xfrm>
        </p:grpSpPr>
        <p:sp>
          <p:nvSpPr>
            <p:cNvPr name="Freeform 8" id="8" descr="จำนวนแผ่นดินไหวรายเดือนและรายปี"/>
            <p:cNvSpPr/>
            <p:nvPr/>
          </p:nvSpPr>
          <p:spPr>
            <a:xfrm flipH="false" flipV="false" rot="0">
              <a:off x="0" y="0"/>
              <a:ext cx="15361920" cy="8945118"/>
            </a:xfrm>
            <a:custGeom>
              <a:avLst/>
              <a:gdLst/>
              <a:ahLst/>
              <a:cxnLst/>
              <a:rect r="r" b="b" t="t" l="l"/>
              <a:pathLst>
                <a:path h="8945118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8945118"/>
                  </a:lnTo>
                  <a:lnTo>
                    <a:pt x="0" y="8945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817316" y="2187416"/>
            <a:ext cx="4650296" cy="7146607"/>
            <a:chOff x="0" y="0"/>
            <a:chExt cx="6200394" cy="95288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200394" cy="9528810"/>
            </a:xfrm>
            <a:custGeom>
              <a:avLst/>
              <a:gdLst/>
              <a:ahLst/>
              <a:cxnLst/>
              <a:rect r="r" b="b" t="t" l="l"/>
              <a:pathLst>
                <a:path h="9528810" w="6200394">
                  <a:moveTo>
                    <a:pt x="0" y="146812"/>
                  </a:moveTo>
                  <a:cubicBezTo>
                    <a:pt x="0" y="65659"/>
                    <a:pt x="65659" y="0"/>
                    <a:pt x="146812" y="0"/>
                  </a:cubicBezTo>
                  <a:lnTo>
                    <a:pt x="6053582" y="0"/>
                  </a:lnTo>
                  <a:cubicBezTo>
                    <a:pt x="6134608" y="0"/>
                    <a:pt x="6200394" y="65659"/>
                    <a:pt x="6200394" y="146812"/>
                  </a:cubicBezTo>
                  <a:lnTo>
                    <a:pt x="6200394" y="9381998"/>
                  </a:lnTo>
                  <a:cubicBezTo>
                    <a:pt x="6200394" y="9463024"/>
                    <a:pt x="6134735" y="9528810"/>
                    <a:pt x="6053582" y="9528810"/>
                  </a:cubicBezTo>
                  <a:lnTo>
                    <a:pt x="146812" y="9528810"/>
                  </a:lnTo>
                  <a:cubicBezTo>
                    <a:pt x="65659" y="9528810"/>
                    <a:pt x="0" y="9463151"/>
                    <a:pt x="0" y="938199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4E3D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3167360" y="2400300"/>
            <a:ext cx="4046220" cy="960120"/>
            <a:chOff x="0" y="0"/>
            <a:chExt cx="5394960" cy="12801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949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115" r="0" b="-3211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394960" cy="128968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A78D6"/>
                  </a:solidFill>
                  <a:latin typeface="Leelawadee Bold"/>
                  <a:ea typeface="Leelawadee Bold"/>
                  <a:cs typeface="Leelawadee Bold"/>
                  <a:sym typeface="Leelawadee Bold"/>
                </a:rPr>
                <a:t>6,983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167360" y="3429000"/>
            <a:ext cx="404622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ครั้งต่อปีโดยเฉลี่ย (2000-2025)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167360" y="4663440"/>
            <a:ext cx="4046220" cy="960120"/>
            <a:chOff x="0" y="0"/>
            <a:chExt cx="5394960" cy="12801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949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115" r="0" b="-3211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5394960" cy="128968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EB6834"/>
                  </a:solidFill>
                  <a:latin typeface="Leelawadee Bold"/>
                  <a:ea typeface="Leelawadee Bold"/>
                  <a:cs typeface="Leelawadee Bold"/>
                  <a:sym typeface="Leelawadee Bold"/>
                </a:rPr>
                <a:t>2,400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167360" y="5692140"/>
            <a:ext cx="404622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ครั้งใน มี.ค. 2011 82% อยู่ที่ญี่ปุ่น (aftershock ของโทโฮคุ M9.1)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167360" y="6926580"/>
            <a:ext cx="4046220" cy="960120"/>
            <a:chOff x="0" y="0"/>
            <a:chExt cx="5394960" cy="12801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949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115" r="0" b="-3211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5394960" cy="128968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A78D6"/>
                  </a:solidFill>
                  <a:latin typeface="Leelawadee Bold"/>
                  <a:ea typeface="Leelawadee Bold"/>
                  <a:cs typeface="Leelawadee Bold"/>
                  <a:sym typeface="Leelawadee Bold"/>
                </a:rPr>
                <a:t>9,583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167360" y="7955280"/>
            <a:ext cx="404622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ครั้งในปี 2011 ปีที่มากที่สุด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733063" y="9637395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2514E"/>
                </a:solidFill>
                <a:latin typeface="Leelawadee"/>
                <a:ea typeface="Leelawadee"/>
                <a:cs typeface="Leelawadee"/>
                <a:sym typeface="Leelawade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2514E"/>
                  </a:solidFill>
                  <a:latin typeface="Leelawadee"/>
                  <a:ea typeface="Leelawadee"/>
                  <a:cs typeface="Leelawadee"/>
                  <a:sym typeface="Leelawadee"/>
                </a:rPr>
                <a:t>Earthquake Analytics on Complex Data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2960" y="411480"/>
            <a:ext cx="16641623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A78D6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2 · Complex Data Exploration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2960" y="877824"/>
            <a:ext cx="16641623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B0B0B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ขนาด ความลึก และพื้นที่ กระจายตัวไม่สมมาตร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32614" y="2125980"/>
            <a:ext cx="7095763" cy="3566160"/>
            <a:chOff x="0" y="0"/>
            <a:chExt cx="9461017" cy="4754880"/>
          </a:xfrm>
        </p:grpSpPr>
        <p:sp>
          <p:nvSpPr>
            <p:cNvPr name="Freeform 8" id="8" descr="Histogram ขนาด แกน log"/>
            <p:cNvSpPr/>
            <p:nvPr/>
          </p:nvSpPr>
          <p:spPr>
            <a:xfrm flipH="false" flipV="false" rot="0">
              <a:off x="0" y="0"/>
              <a:ext cx="9460992" cy="4754880"/>
            </a:xfrm>
            <a:custGeom>
              <a:avLst/>
              <a:gdLst/>
              <a:ahLst/>
              <a:cxnLst/>
              <a:rect r="r" b="b" t="t" l="l"/>
              <a:pathLst>
                <a:path h="4754880" w="9460992">
                  <a:moveTo>
                    <a:pt x="0" y="0"/>
                  </a:moveTo>
                  <a:lnTo>
                    <a:pt x="9460992" y="0"/>
                  </a:lnTo>
                  <a:lnTo>
                    <a:pt x="9460992" y="4754880"/>
                  </a:lnTo>
                  <a:lnTo>
                    <a:pt x="0" y="4754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365113" y="2125980"/>
            <a:ext cx="8083858" cy="3566160"/>
            <a:chOff x="0" y="0"/>
            <a:chExt cx="10778477" cy="4754880"/>
          </a:xfrm>
        </p:grpSpPr>
        <p:sp>
          <p:nvSpPr>
            <p:cNvPr name="Freeform 10" id="10" descr="Histogram ความลึก"/>
            <p:cNvSpPr/>
            <p:nvPr/>
          </p:nvSpPr>
          <p:spPr>
            <a:xfrm flipH="false" flipV="false" rot="0">
              <a:off x="0" y="0"/>
              <a:ext cx="10778490" cy="4754880"/>
            </a:xfrm>
            <a:custGeom>
              <a:avLst/>
              <a:gdLst/>
              <a:ahLst/>
              <a:cxnLst/>
              <a:rect r="r" b="b" t="t" l="l"/>
              <a:pathLst>
                <a:path h="4754880" w="10778490">
                  <a:moveTo>
                    <a:pt x="0" y="0"/>
                  </a:moveTo>
                  <a:lnTo>
                    <a:pt x="10778490" y="0"/>
                  </a:lnTo>
                  <a:lnTo>
                    <a:pt x="10778490" y="4754880"/>
                  </a:lnTo>
                  <a:lnTo>
                    <a:pt x="0" y="4754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96860" y="5897880"/>
            <a:ext cx="6967271" cy="3497580"/>
            <a:chOff x="0" y="0"/>
            <a:chExt cx="9289694" cy="4663440"/>
          </a:xfrm>
        </p:grpSpPr>
        <p:sp>
          <p:nvSpPr>
            <p:cNvPr name="Freeform 12" id="12" descr="10 ภูมิภาคที่มากที่สุด"/>
            <p:cNvSpPr/>
            <p:nvPr/>
          </p:nvSpPr>
          <p:spPr>
            <a:xfrm flipH="false" flipV="false" rot="0">
              <a:off x="0" y="0"/>
              <a:ext cx="9289669" cy="4663440"/>
            </a:xfrm>
            <a:custGeom>
              <a:avLst/>
              <a:gdLst/>
              <a:ahLst/>
              <a:cxnLst/>
              <a:rect r="r" b="b" t="t" l="l"/>
              <a:pathLst>
                <a:path h="4663440" w="9289669">
                  <a:moveTo>
                    <a:pt x="0" y="0"/>
                  </a:moveTo>
                  <a:lnTo>
                    <a:pt x="9289669" y="0"/>
                  </a:lnTo>
                  <a:lnTo>
                    <a:pt x="9289669" y="4663440"/>
                  </a:lnTo>
                  <a:lnTo>
                    <a:pt x="0" y="466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342368" y="5890736"/>
            <a:ext cx="8129359" cy="3511867"/>
            <a:chOff x="0" y="0"/>
            <a:chExt cx="10839145" cy="46824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839196" cy="4682490"/>
            </a:xfrm>
            <a:custGeom>
              <a:avLst/>
              <a:gdLst/>
              <a:ahLst/>
              <a:cxnLst/>
              <a:rect r="r" b="b" t="t" l="l"/>
              <a:pathLst>
                <a:path h="4682490" w="10839196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10692257" y="0"/>
                  </a:lnTo>
                  <a:cubicBezTo>
                    <a:pt x="10773410" y="0"/>
                    <a:pt x="10839196" y="65786"/>
                    <a:pt x="10839196" y="146939"/>
                  </a:cubicBezTo>
                  <a:lnTo>
                    <a:pt x="10839196" y="4535551"/>
                  </a:lnTo>
                  <a:cubicBezTo>
                    <a:pt x="10839196" y="4616704"/>
                    <a:pt x="10773410" y="4682490"/>
                    <a:pt x="10692257" y="4682490"/>
                  </a:cubicBezTo>
                  <a:lnTo>
                    <a:pt x="146939" y="4682490"/>
                  </a:lnTo>
                  <a:cubicBezTo>
                    <a:pt x="65786" y="4682490"/>
                    <a:pt x="0" y="4616704"/>
                    <a:pt x="0" y="453555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4E3DF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623831" y="6052947"/>
            <a:ext cx="7566431" cy="178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b="true" sz="1950">
                <a:solidFill>
                  <a:srgbClr val="0B0B0B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ขนาด: </a:t>
            </a:r>
            <a:r>
              <a:rPr lang="en-US" sz="195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b-value ของ Gutenberg-Richter = 1.14 ทาย "ไม่ใหญ่" ทุกครั้งได้ accuracy 99.35%</a:t>
            </a:r>
          </a:p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b="true" sz="1950">
                <a:solidFill>
                  <a:srgbClr val="0B0B0B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ความลึก: </a:t>
            </a:r>
            <a:r>
              <a:rPr lang="en-US" sz="195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ตื้น (&lt; 70 km) 79% กลาง 16% ลึก 5% ลึกสุด 701 km</a:t>
            </a:r>
          </a:p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b="true" sz="1950">
                <a:solidFill>
                  <a:srgbClr val="0B0B0B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พื้นที่: </a:t>
            </a:r>
            <a:r>
              <a:rPr lang="en-US" sz="195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439 ภูมิภาค 10 อันดับแรก = 52% (อินโดนีเซีย 12% ญี่ปุ่น 9%)</a:t>
            </a:r>
          </a:p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b="true" sz="1950">
                <a:solidFill>
                  <a:srgbClr val="0B0B0B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ตรวจความถูกต้อง: </a:t>
            </a:r>
            <a:r>
              <a:rPr lang="en-US" sz="195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เจอเหตุการณ์จริงครบ 5 จาก 5 (สุมาตรา 2004, โทโฮคุ 2011, ตุรกี 2023, เมียนมา 2025, คัมชัตกา 2025)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733063" y="9637395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2514E"/>
                </a:solidFill>
                <a:latin typeface="Leelawadee"/>
                <a:ea typeface="Leelawadee"/>
                <a:cs typeface="Leelawadee"/>
                <a:sym typeface="Leelawade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2514E"/>
                  </a:solidFill>
                  <a:latin typeface="Leelawadee"/>
                  <a:ea typeface="Leelawadee"/>
                  <a:cs typeface="Leelawadee"/>
                  <a:sym typeface="Leelawadee"/>
                </a:rPr>
                <a:t>Earthquake Analytics on Complex Data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2960" y="411480"/>
            <a:ext cx="16641623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A78D6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3 · Complex Data Pre-Processing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2960" y="877824"/>
            <a:ext cx="16641623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B0B0B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ทำความสะอาด: จาก 187,588 แถว เหลือ 187,547 แถว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516278" y="2125980"/>
            <a:ext cx="11254978" cy="3154680"/>
            <a:chOff x="0" y="0"/>
            <a:chExt cx="15006638" cy="4206240"/>
          </a:xfrm>
        </p:grpSpPr>
        <p:sp>
          <p:nvSpPr>
            <p:cNvPr name="Freeform 8" id="8" descr="ขั้นตอนของข้อมูล"/>
            <p:cNvSpPr/>
            <p:nvPr/>
          </p:nvSpPr>
          <p:spPr>
            <a:xfrm flipH="false" flipV="false" rot="0">
              <a:off x="0" y="0"/>
              <a:ext cx="15006701" cy="4206240"/>
            </a:xfrm>
            <a:custGeom>
              <a:avLst/>
              <a:gdLst/>
              <a:ahLst/>
              <a:cxnLst/>
              <a:rect r="r" b="b" t="t" l="l"/>
              <a:pathLst>
                <a:path h="4206240" w="15006701">
                  <a:moveTo>
                    <a:pt x="0" y="0"/>
                  </a:moveTo>
                  <a:lnTo>
                    <a:pt x="15006701" y="0"/>
                  </a:lnTo>
                  <a:lnTo>
                    <a:pt x="15006701" y="4206240"/>
                  </a:lnTo>
                  <a:lnTo>
                    <a:pt x="0" y="4206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822960" y="5623560"/>
          <a:ext cx="16611600" cy="2971800"/>
        </p:xfrm>
        <a:graphic>
          <a:graphicData uri="http://schemas.openxmlformats.org/drawingml/2006/table">
            <a:tbl>
              <a:tblPr/>
              <a:tblGrid>
                <a:gridCol w="6294079"/>
                <a:gridCol w="1935330"/>
                <a:gridCol w="8382191"/>
              </a:tblGrid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Leelawadee Bold"/>
                          <a:ea typeface="Leelawadee Bold"/>
                          <a:cs typeface="Leelawadee Bold"/>
                          <a:sym typeface="Leelawadee Bold"/>
                        </a:rPr>
                        <a:t>ขั้นตอน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Leelawadee Bold"/>
                          <a:ea typeface="Leelawadee Bold"/>
                          <a:cs typeface="Leelawadee Bold"/>
                          <a:sym typeface="Leelawadee Bold"/>
                        </a:rPr>
                        <a:t>แถวที่ตัด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Leelawadee Bold"/>
                          <a:ea typeface="Leelawadee Bold"/>
                          <a:cs typeface="Leelawadee Bold"/>
                          <a:sym typeface="Leelawadee Bold"/>
                        </a:rPr>
                        <a:t>เหตุผล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</a:tr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ขนาดต่ำกว่า 4.5 หลัง USGS แก้ไข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4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อยู่นอกขอบเขต M4.5+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เหตุการณ์เดียวกันแต่มี 2 id (≤ 10 วินาที และ ≤ 10 km)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37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เก็บแถวที่ขนาดใหญ่กว่า ถ้าเก็บแถวที่อัปเดตล่าสุดจะลบ M7.3, M6.9, M6.6 ทิ้ง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0B0B0B"/>
                          </a:solidFill>
                          <a:latin typeface="Leelawadee Bold"/>
                          <a:ea typeface="Leelawadee Bold"/>
                          <a:cs typeface="Leelawadee Bold"/>
                          <a:sym typeface="Leelawadee Bold"/>
                        </a:rPr>
                        <a:t>รวม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0B0B0B"/>
                          </a:solidFill>
                          <a:latin typeface="Leelawadee Bold"/>
                          <a:ea typeface="Leelawadee Bold"/>
                          <a:cs typeface="Leelawadee Bold"/>
                          <a:sym typeface="Leelawadee Bold"/>
                        </a:rPr>
                        <a:t>41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0B0B0B"/>
                          </a:solidFill>
                          <a:latin typeface="Leelawadee Bold"/>
                          <a:ea typeface="Leelawadee Bold"/>
                          <a:cs typeface="Leelawadee Bold"/>
                          <a:sym typeface="Leelawadee Bold"/>
                        </a:rPr>
                        <a:t>เหลือ 187,547 แถว × 22 คอลัมน์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16733063" y="9637395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2514E"/>
                </a:solidFill>
                <a:latin typeface="Leelawadee"/>
                <a:ea typeface="Leelawadee"/>
                <a:cs typeface="Leelawadee"/>
                <a:sym typeface="Leelawade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2514E"/>
                  </a:solidFill>
                  <a:latin typeface="Leelawadee"/>
                  <a:ea typeface="Leelawadee"/>
                  <a:cs typeface="Leelawadee"/>
                  <a:sym typeface="Leelawadee"/>
                </a:rPr>
                <a:t>Earthquake Analytics on Complex Data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2960" y="411480"/>
            <a:ext cx="16641623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A78D6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3 · Complex Data Pre-Processing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2960" y="877824"/>
            <a:ext cx="16641623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B0B0B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ไม่เติมค่าที่หาย แต่ติดป้ายความลึกที่เป็นค่าตั้งต้น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22960" y="2328796"/>
            <a:ext cx="8115071" cy="3709159"/>
            <a:chOff x="0" y="0"/>
            <a:chExt cx="10820095" cy="4945545"/>
          </a:xfrm>
        </p:grpSpPr>
        <p:sp>
          <p:nvSpPr>
            <p:cNvPr name="Freeform 8" id="8" descr="% ค่าที่หายของแต่ละคอลัมน์"/>
            <p:cNvSpPr/>
            <p:nvPr/>
          </p:nvSpPr>
          <p:spPr>
            <a:xfrm flipH="false" flipV="false" rot="0">
              <a:off x="0" y="0"/>
              <a:ext cx="10820146" cy="4945507"/>
            </a:xfrm>
            <a:custGeom>
              <a:avLst/>
              <a:gdLst/>
              <a:ahLst/>
              <a:cxnLst/>
              <a:rect r="r" b="b" t="t" l="l"/>
              <a:pathLst>
                <a:path h="4945507" w="10820146">
                  <a:moveTo>
                    <a:pt x="0" y="0"/>
                  </a:moveTo>
                  <a:lnTo>
                    <a:pt x="10820146" y="0"/>
                  </a:lnTo>
                  <a:lnTo>
                    <a:pt x="10820146" y="4945507"/>
                  </a:lnTo>
                  <a:lnTo>
                    <a:pt x="0" y="4945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349511" y="2684736"/>
            <a:ext cx="8115071" cy="2997298"/>
            <a:chOff x="0" y="0"/>
            <a:chExt cx="10820095" cy="3996398"/>
          </a:xfrm>
        </p:grpSpPr>
        <p:sp>
          <p:nvSpPr>
            <p:cNvPr name="Freeform 10" id="10" descr="ค่าความลึกที่เป็นค่าตั้งต้น"/>
            <p:cNvSpPr/>
            <p:nvPr/>
          </p:nvSpPr>
          <p:spPr>
            <a:xfrm flipH="false" flipV="false" rot="0">
              <a:off x="0" y="0"/>
              <a:ext cx="10820146" cy="3996436"/>
            </a:xfrm>
            <a:custGeom>
              <a:avLst/>
              <a:gdLst/>
              <a:ahLst/>
              <a:cxnLst/>
              <a:rect r="r" b="b" t="t" l="l"/>
              <a:pathLst>
                <a:path h="3996436" w="10820146">
                  <a:moveTo>
                    <a:pt x="0" y="0"/>
                  </a:moveTo>
                  <a:lnTo>
                    <a:pt x="10820146" y="0"/>
                  </a:lnTo>
                  <a:lnTo>
                    <a:pt x="10820146" y="3996436"/>
                  </a:lnTo>
                  <a:lnTo>
                    <a:pt x="0" y="3996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22960" y="6779895"/>
            <a:ext cx="16641623" cy="2204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0B0B0B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ไม่เติมค่า: </a:t>
            </a:r>
            <a:r>
              <a:rPr lang="en-US" sz="240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horizontalError หาย 52% magError หาย 49% หายตามเครือข่ายและยุค ไม่ได้หายแบบสุ่ม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0B0B0B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ป้าย depth_fixed: </a:t>
            </a:r>
            <a:r>
              <a:rPr lang="en-US" sz="240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10, 30, 33, 35 km เป็นค่าตั้งต้น (10 km มากกว่าค่าข้างเคียง 272 เท่า) รวม 46% ของข้อมูล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0B0B0B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cell_id: </a:t>
            </a:r>
            <a:r>
              <a:rPr lang="en-US" sz="240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แบ่งโลกเป็นช่องตาราง 5° × 5°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733063" y="9637395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2514E"/>
                </a:solidFill>
                <a:latin typeface="Leelawadee"/>
                <a:ea typeface="Leelawadee"/>
                <a:cs typeface="Leelawadee"/>
                <a:sym typeface="Leelawade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2514E"/>
                  </a:solidFill>
                  <a:latin typeface="Leelawadee"/>
                  <a:ea typeface="Leelawadee"/>
                  <a:cs typeface="Leelawadee"/>
                  <a:sym typeface="Leelawadee"/>
                </a:rPr>
                <a:t>Earthquake Analytics on Complex Data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2960" y="411480"/>
            <a:ext cx="16641623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A78D6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3 · Complex Data Pre-Processing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2960" y="877824"/>
            <a:ext cx="16641623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B0B0B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โจทย์พยากรณ์จริง: เดือนหน้าช่องนี้จะมี M6.5+ ไหม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822960" y="2194560"/>
          <a:ext cx="9982200" cy="6267450"/>
        </p:xfrm>
        <a:graphic>
          <a:graphicData uri="http://schemas.openxmlformats.org/drawingml/2006/table">
            <a:tbl>
              <a:tblPr/>
              <a:tblGrid>
                <a:gridCol w="2611688"/>
                <a:gridCol w="7370512"/>
              </a:tblGrid>
              <a:tr h="8953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Leelawadee Bold"/>
                          <a:ea typeface="Leelawadee Bold"/>
                          <a:cs typeface="Leelawadee Bold"/>
                          <a:sym typeface="Leelawadee Bold"/>
                        </a:rPr>
                        <a:t>ตาราง feature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Leelawadee Bold"/>
                          <a:ea typeface="Leelawadee Bold"/>
                          <a:cs typeface="Leelawadee Bold"/>
                          <a:sym typeface="Leelawadee Bold"/>
                        </a:rPr>
                        <a:t>รายละเอียด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</a:tr>
              <a:tr h="8953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จำนวนแถว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385,280 = 1,204 ช่อง × 320 เดือน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Feature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15 ตัว เช่น จำนวนเหตุการณ์ 1/3/12 เดือนก่อน, major ใน 12 เดือน, กิจกรรมใน 8 ช่องรอบข้าง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เป้าหมาย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เดือนถัดไปมี M6.5+ ในช่องนั้นหรือไม่ (เป็นบวก 0.27%)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ทดสอบ leakage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ลบข้อมูลอนาคตแล้วคำนวณใหม่ ได้ค่าเท่าเดิมทุกตัว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ไม่ใช้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nst, magError ฯลฯ (คำนวณมาพร้อมกับขนาด)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แบ่งตามเวลา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Train ≤ 2019 · Validation 2020-2022 · Test 2023+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11247120" y="3984298"/>
            <a:ext cx="6217463" cy="3552835"/>
            <a:chOff x="0" y="0"/>
            <a:chExt cx="8289950" cy="4737113"/>
          </a:xfrm>
        </p:grpSpPr>
        <p:sp>
          <p:nvSpPr>
            <p:cNvPr name="Freeform 9" id="9" descr="สัดส่วนคลาสในแต่ละช่วง"/>
            <p:cNvSpPr/>
            <p:nvPr/>
          </p:nvSpPr>
          <p:spPr>
            <a:xfrm flipH="false" flipV="false" rot="0">
              <a:off x="0" y="0"/>
              <a:ext cx="8289925" cy="4737100"/>
            </a:xfrm>
            <a:custGeom>
              <a:avLst/>
              <a:gdLst/>
              <a:ahLst/>
              <a:cxnLst/>
              <a:rect r="r" b="b" t="t" l="l"/>
              <a:pathLst>
                <a:path h="4737100" w="8289925">
                  <a:moveTo>
                    <a:pt x="0" y="0"/>
                  </a:moveTo>
                  <a:lnTo>
                    <a:pt x="8289925" y="0"/>
                  </a:lnTo>
                  <a:lnTo>
                    <a:pt x="8289925" y="4737100"/>
                  </a:lnTo>
                  <a:lnTo>
                    <a:pt x="0" y="4737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733063" y="9637395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2514E"/>
                </a:solidFill>
                <a:latin typeface="Leelawadee"/>
                <a:ea typeface="Leelawadee"/>
                <a:cs typeface="Leelawadee"/>
                <a:sym typeface="Leelawade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2514E"/>
                  </a:solidFill>
                  <a:latin typeface="Leelawadee"/>
                  <a:ea typeface="Leelawadee"/>
                  <a:cs typeface="Leelawadee"/>
                  <a:sym typeface="Leelawadee"/>
                </a:rPr>
                <a:t>Earthquake Analytics on Complex Data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2960" y="411480"/>
            <a:ext cx="16641623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A78D6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4 · Analytic Technique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2960" y="877824"/>
            <a:ext cx="16641623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B0B0B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Unsupervised: หากลุ่มในพื้นที่-เวลา และช่อง-สัปดาห์ที่ผิดปกติ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22960" y="2398405"/>
            <a:ext cx="8115071" cy="3775691"/>
            <a:chOff x="0" y="0"/>
            <a:chExt cx="10820095" cy="5034255"/>
          </a:xfrm>
        </p:grpSpPr>
        <p:sp>
          <p:nvSpPr>
            <p:cNvPr name="Freeform 8" id="8" descr="แผนที่คลัสเตอร์จาก ST-DBSCAN"/>
            <p:cNvSpPr/>
            <p:nvPr/>
          </p:nvSpPr>
          <p:spPr>
            <a:xfrm flipH="false" flipV="false" rot="0">
              <a:off x="0" y="0"/>
              <a:ext cx="10820146" cy="5034280"/>
            </a:xfrm>
            <a:custGeom>
              <a:avLst/>
              <a:gdLst/>
              <a:ahLst/>
              <a:cxnLst/>
              <a:rect r="r" b="b" t="t" l="l"/>
              <a:pathLst>
                <a:path h="5034280" w="10820146">
                  <a:moveTo>
                    <a:pt x="0" y="0"/>
                  </a:moveTo>
                  <a:lnTo>
                    <a:pt x="10820146" y="0"/>
                  </a:lnTo>
                  <a:lnTo>
                    <a:pt x="10820146" y="5034280"/>
                  </a:lnTo>
                  <a:lnTo>
                    <a:pt x="0" y="5034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349511" y="2652446"/>
            <a:ext cx="8115071" cy="3267618"/>
            <a:chOff x="0" y="0"/>
            <a:chExt cx="10820095" cy="4356824"/>
          </a:xfrm>
        </p:grpSpPr>
        <p:sp>
          <p:nvSpPr>
            <p:cNvPr name="Freeform 10" id="10" descr="ช่อง-สัปดาห์ที่ Isolation Forest flag ตามเวลา"/>
            <p:cNvSpPr/>
            <p:nvPr/>
          </p:nvSpPr>
          <p:spPr>
            <a:xfrm flipH="false" flipV="false" rot="0">
              <a:off x="0" y="0"/>
              <a:ext cx="10820146" cy="4356862"/>
            </a:xfrm>
            <a:custGeom>
              <a:avLst/>
              <a:gdLst/>
              <a:ahLst/>
              <a:cxnLst/>
              <a:rect r="r" b="b" t="t" l="l"/>
              <a:pathLst>
                <a:path h="4356862" w="10820146">
                  <a:moveTo>
                    <a:pt x="0" y="0"/>
                  </a:moveTo>
                  <a:lnTo>
                    <a:pt x="10820146" y="0"/>
                  </a:lnTo>
                  <a:lnTo>
                    <a:pt x="10820146" y="4356862"/>
                  </a:lnTo>
                  <a:lnTo>
                    <a:pt x="0" y="4356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15816" y="6645116"/>
            <a:ext cx="8129359" cy="2757488"/>
            <a:chOff x="0" y="0"/>
            <a:chExt cx="10839145" cy="36766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839197" cy="3676650"/>
            </a:xfrm>
            <a:custGeom>
              <a:avLst/>
              <a:gdLst/>
              <a:ahLst/>
              <a:cxnLst/>
              <a:rect r="r" b="b" t="t" l="l"/>
              <a:pathLst>
                <a:path h="3676650" w="10839197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10692130" y="0"/>
                  </a:lnTo>
                  <a:cubicBezTo>
                    <a:pt x="10773411" y="0"/>
                    <a:pt x="10839197" y="65786"/>
                    <a:pt x="10839197" y="147066"/>
                  </a:cubicBezTo>
                  <a:lnTo>
                    <a:pt x="10839197" y="3529584"/>
                  </a:lnTo>
                  <a:cubicBezTo>
                    <a:pt x="10839197" y="3610864"/>
                    <a:pt x="10773411" y="3676650"/>
                    <a:pt x="10692130" y="3676650"/>
                  </a:cubicBezTo>
                  <a:lnTo>
                    <a:pt x="147066" y="3676650"/>
                  </a:lnTo>
                  <a:cubicBezTo>
                    <a:pt x="65786" y="3676650"/>
                    <a:pt x="0" y="3610864"/>
                    <a:pt x="0" y="352958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4E3D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65860" y="6761988"/>
            <a:ext cx="7429271" cy="548640"/>
            <a:chOff x="0" y="0"/>
            <a:chExt cx="9905695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905696" cy="731520"/>
            </a:xfrm>
            <a:custGeom>
              <a:avLst/>
              <a:gdLst/>
              <a:ahLst/>
              <a:cxnLst/>
              <a:rect r="r" b="b" t="t" l="l"/>
              <a:pathLst>
                <a:path h="731520" w="9905696">
                  <a:moveTo>
                    <a:pt x="0" y="0"/>
                  </a:moveTo>
                  <a:lnTo>
                    <a:pt x="9905696" y="0"/>
                  </a:lnTo>
                  <a:lnTo>
                    <a:pt x="990569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3851" r="0" b="-21385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905695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2A78D6"/>
                  </a:solidFill>
                  <a:latin typeface="Leelawadee Bold"/>
                  <a:ea typeface="Leelawadee Bold"/>
                  <a:cs typeface="Leelawadee Bold"/>
                  <a:sym typeface="Leelawadee Bold"/>
                </a:rPr>
                <a:t>ST-DBSCAN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165860" y="7369683"/>
            <a:ext cx="7429271" cy="1957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อยู่กลุ่มเดียวกันเมื่อห่างกัน ≤ 100 km และ ≤ 7 วัน</a:t>
            </a:r>
          </a:p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เลือกค่าจาก k-distance plot + ลอง 32 ชุด → 3,567 คลัสเตอร์</a:t>
            </a:r>
          </a:p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หา aftershock sequence และ swarm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342368" y="6645116"/>
            <a:ext cx="8129359" cy="2757488"/>
            <a:chOff x="0" y="0"/>
            <a:chExt cx="10839145" cy="36766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839197" cy="3676650"/>
            </a:xfrm>
            <a:custGeom>
              <a:avLst/>
              <a:gdLst/>
              <a:ahLst/>
              <a:cxnLst/>
              <a:rect r="r" b="b" t="t" l="l"/>
              <a:pathLst>
                <a:path h="3676650" w="10839197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10692130" y="0"/>
                  </a:lnTo>
                  <a:cubicBezTo>
                    <a:pt x="10773411" y="0"/>
                    <a:pt x="10839197" y="65786"/>
                    <a:pt x="10839197" y="147066"/>
                  </a:cubicBezTo>
                  <a:lnTo>
                    <a:pt x="10839197" y="3529584"/>
                  </a:lnTo>
                  <a:cubicBezTo>
                    <a:pt x="10839197" y="3610864"/>
                    <a:pt x="10773411" y="3676650"/>
                    <a:pt x="10692130" y="3676650"/>
                  </a:cubicBezTo>
                  <a:lnTo>
                    <a:pt x="147066" y="3676650"/>
                  </a:lnTo>
                  <a:cubicBezTo>
                    <a:pt x="65786" y="3676650"/>
                    <a:pt x="0" y="3610864"/>
                    <a:pt x="0" y="352958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4E3DF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692411" y="6761988"/>
            <a:ext cx="7429271" cy="548640"/>
            <a:chOff x="0" y="0"/>
            <a:chExt cx="9905695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905696" cy="731520"/>
            </a:xfrm>
            <a:custGeom>
              <a:avLst/>
              <a:gdLst/>
              <a:ahLst/>
              <a:cxnLst/>
              <a:rect r="r" b="b" t="t" l="l"/>
              <a:pathLst>
                <a:path h="731520" w="9905696">
                  <a:moveTo>
                    <a:pt x="0" y="0"/>
                  </a:moveTo>
                  <a:lnTo>
                    <a:pt x="9905696" y="0"/>
                  </a:lnTo>
                  <a:lnTo>
                    <a:pt x="990569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3851" r="0" b="-21385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9905695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2A78D6"/>
                  </a:solidFill>
                  <a:latin typeface="Leelawadee Bold"/>
                  <a:ea typeface="Leelawadee Bold"/>
                  <a:cs typeface="Leelawadee Bold"/>
                  <a:sym typeface="Leelawadee Bold"/>
                </a:rPr>
                <a:t>Isolation Forest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692411" y="7369683"/>
            <a:ext cx="7429271" cy="1957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ช่องที่ผิดปกติถูกแยกออกได้ในการสุ่มแบ่งไม่กี่ครั้ง ไม่ต้องมีป้ายกำกับ</a:t>
            </a:r>
          </a:p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Feature: จำนวนเหตุการณ์, อัตราเทียบปกติ, ความลึก, การกระจายตัว, ขนาดเฉลี่ย</a:t>
            </a:r>
          </a:p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ตั้งใจไม่ใส่ขนาดสูงสุด (เป็นค่าเดียวกับเฉลย) แต่รันทั้งสองแบบเทียบกัน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733063" y="9637395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2514E"/>
                </a:solidFill>
                <a:latin typeface="Leelawadee"/>
                <a:ea typeface="Leelawadee"/>
                <a:cs typeface="Leelawadee"/>
                <a:sym typeface="Leelawadee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2514E"/>
                  </a:solidFill>
                  <a:latin typeface="Leelawadee"/>
                  <a:ea typeface="Leelawadee"/>
                  <a:cs typeface="Leelawadee"/>
                  <a:sym typeface="Leelawadee"/>
                </a:rPr>
                <a:t>Earthquake Analytics on Complex Data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2960" y="411480"/>
            <a:ext cx="16641623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A78D6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4 · Analytic Technique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2960" y="877824"/>
            <a:ext cx="16641623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B0B0B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Supervised: เทียบ 6 โมเดล กับเป้าหมายที่เกิด 1 ใน 370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822960" y="2194560"/>
          <a:ext cx="11506200" cy="5867400"/>
        </p:xfrm>
        <a:graphic>
          <a:graphicData uri="http://schemas.openxmlformats.org/drawingml/2006/table">
            <a:tbl>
              <a:tblPr/>
              <a:tblGrid>
                <a:gridCol w="708161"/>
                <a:gridCol w="6418771"/>
                <a:gridCol w="4379268"/>
              </a:tblGrid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Leelawadee Bold"/>
                          <a:ea typeface="Leelawadee Bold"/>
                          <a:cs typeface="Leelawadee Bold"/>
                          <a:sym typeface="Leelawadee Bold"/>
                        </a:rPr>
                        <a:t>#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Leelawadee Bold"/>
                          <a:ea typeface="Leelawadee Bold"/>
                          <a:cs typeface="Leelawadee Bold"/>
                          <a:sym typeface="Leelawadee Bold"/>
                        </a:rPr>
                        <a:t>โมเดล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Leelawadee Bold"/>
                          <a:ea typeface="Leelawadee Bold"/>
                          <a:cs typeface="Leelawadee Bold"/>
                          <a:sym typeface="Leelawadee Bold"/>
                        </a:rPr>
                        <a:t>จัดการ imbalance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0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Naive baseline: เคยมี major ใน 12 เดือน → เดือนหน้ามีอีก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ไม่มี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1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Logistic Regression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ไม่มี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2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Logistic Regression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class weight (balanced)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3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LightGBM (จูนค่าบน validation)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class weight (balanced)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4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LightGBM (จูนค่าบน validation)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SMOTE เฉพาะบน train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EB6834"/>
                          </a:solidFill>
                          <a:latin typeface="Leelawadee Bold"/>
                          <a:ea typeface="Leelawadee Bold"/>
                          <a:cs typeface="Leelawadee Bold"/>
                          <a:sym typeface="Leelawadee Bold"/>
                        </a:rPr>
                        <a:t>5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0B0B0B"/>
                          </a:solidFill>
                          <a:latin typeface="Leelawadee Bold"/>
                          <a:ea typeface="Leelawadee Bold"/>
                          <a:cs typeface="Leelawadee Bold"/>
                          <a:sym typeface="Leelawadee Bold"/>
                        </a:rPr>
                        <a:t>ตัวที่ดีที่สุดจาก 1-4 (PR-AUC บน validation)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0B0B0B"/>
                          </a:solidFill>
                          <a:latin typeface="Leelawadee Bold"/>
                          <a:ea typeface="Leelawadee Bold"/>
                          <a:cs typeface="Leelawadee Bold"/>
                          <a:sym typeface="Leelawadee Bold"/>
                        </a:rPr>
                        <a:t>+ จูน threshold ด้วย F1 บน validation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12748736" y="2187416"/>
            <a:ext cx="4722990" cy="4129088"/>
            <a:chOff x="0" y="0"/>
            <a:chExt cx="6297320" cy="55054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297295" cy="5505450"/>
            </a:xfrm>
            <a:custGeom>
              <a:avLst/>
              <a:gdLst/>
              <a:ahLst/>
              <a:cxnLst/>
              <a:rect r="r" b="b" t="t" l="l"/>
              <a:pathLst>
                <a:path h="5505450" w="6297295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150483" y="0"/>
                  </a:lnTo>
                  <a:cubicBezTo>
                    <a:pt x="6231636" y="0"/>
                    <a:pt x="6297295" y="65786"/>
                    <a:pt x="6297295" y="146812"/>
                  </a:cubicBezTo>
                  <a:lnTo>
                    <a:pt x="6297295" y="5358638"/>
                  </a:lnTo>
                  <a:cubicBezTo>
                    <a:pt x="6297295" y="5439791"/>
                    <a:pt x="6231509" y="5505450"/>
                    <a:pt x="6150483" y="5505450"/>
                  </a:cubicBezTo>
                  <a:lnTo>
                    <a:pt x="146812" y="5505450"/>
                  </a:lnTo>
                  <a:cubicBezTo>
                    <a:pt x="65786" y="5505450"/>
                    <a:pt x="0" y="5439664"/>
                    <a:pt x="0" y="535863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4E3D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098780" y="2400300"/>
            <a:ext cx="4114800" cy="617220"/>
            <a:chOff x="0" y="0"/>
            <a:chExt cx="5486400" cy="8229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86400" cy="822960"/>
            </a:xfrm>
            <a:custGeom>
              <a:avLst/>
              <a:gdLst/>
              <a:ahLst/>
              <a:cxnLst/>
              <a:rect r="r" b="b" t="t" l="l"/>
              <a:pathLst>
                <a:path h="82296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548640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2A78D6"/>
                  </a:solidFill>
                  <a:latin typeface="Leelawadee Bold"/>
                  <a:ea typeface="Leelawadee Bold"/>
                  <a:cs typeface="Leelawadee Bold"/>
                  <a:sym typeface="Leelawadee Bold"/>
                </a:rPr>
                <a:t>กฎข้อเดียว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098780" y="3145155"/>
            <a:ext cx="4022903" cy="2958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ทุกการตัดสินใจ (เลือกโมเดล, จูน LightGBM, เลือก threshold) ทำบน validation เท่านั้น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ชุด test ใช้ครั้งเดียวตอนวัดผล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733063" y="9637395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2514E"/>
                </a:solidFill>
                <a:latin typeface="Leelawadee"/>
                <a:ea typeface="Leelawadee"/>
                <a:cs typeface="Leelawadee"/>
                <a:sym typeface="Leelawade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2514E"/>
                  </a:solidFill>
                  <a:latin typeface="Leelawadee"/>
                  <a:ea typeface="Leelawadee"/>
                  <a:cs typeface="Leelawadee"/>
                  <a:sym typeface="Leelawadee"/>
                </a:rPr>
                <a:t>Earthquake Analytics on Complex Data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8672" y="2180272"/>
            <a:ext cx="10041255" cy="5514975"/>
            <a:chOff x="0" y="0"/>
            <a:chExt cx="13388340" cy="73533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88339" cy="7353300"/>
            </a:xfrm>
            <a:custGeom>
              <a:avLst/>
              <a:gdLst/>
              <a:ahLst/>
              <a:cxnLst/>
              <a:rect r="r" b="b" t="t" l="l"/>
              <a:pathLst>
                <a:path h="7353300" w="13388339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13241274" y="0"/>
                  </a:lnTo>
                  <a:cubicBezTo>
                    <a:pt x="13322554" y="0"/>
                    <a:pt x="13388339" y="65786"/>
                    <a:pt x="13388339" y="147066"/>
                  </a:cubicBezTo>
                  <a:lnTo>
                    <a:pt x="13388339" y="7206234"/>
                  </a:lnTo>
                  <a:cubicBezTo>
                    <a:pt x="13388339" y="7287514"/>
                    <a:pt x="13322554" y="7353300"/>
                    <a:pt x="13241274" y="7353300"/>
                  </a:cubicBezTo>
                  <a:lnTo>
                    <a:pt x="147066" y="7353300"/>
                  </a:lnTo>
                  <a:cubicBezTo>
                    <a:pt x="65786" y="7353300"/>
                    <a:pt x="0" y="7287514"/>
                    <a:pt x="0" y="7206234"/>
                  </a:cubicBezTo>
                  <a:close/>
                </a:path>
              </a:pathLst>
            </a:custGeom>
            <a:blipFill>
              <a:blip r:embed="rId3"/>
              <a:stretch>
                <a:fillRect l="0" t="-1207" r="0" b="-1207"/>
              </a:stretch>
            </a:blipFill>
            <a:ln w="28575" cap="sq">
              <a:solidFill>
                <a:srgbClr val="EB6834"/>
              </a:solidFill>
              <a:prstDash val="dash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7955280"/>
            <a:ext cx="10012680" cy="548640"/>
            <a:chOff x="0" y="0"/>
            <a:chExt cx="1335024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350239" cy="731520"/>
            </a:xfrm>
            <a:custGeom>
              <a:avLst/>
              <a:gdLst/>
              <a:ahLst/>
              <a:cxnLst/>
              <a:rect r="r" b="b" t="t" l="l"/>
              <a:pathLst>
                <a:path h="73152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5601" r="0" b="-3056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335024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2514E"/>
                  </a:solidFill>
                  <a:latin typeface="Leelawadee"/>
                  <a:ea typeface="Leelawadee"/>
                  <a:cs typeface="Leelawadee"/>
                  <a:sym typeface="Leelawadee"/>
                </a:rPr>
                <a:t>Library: pandas · scikit-learn · LightGBM · imbalanced-learn · plotly · matplotlib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8641080"/>
            <a:ext cx="10012680" cy="411480"/>
            <a:chOff x="0" y="0"/>
            <a:chExt cx="1335024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50239" cy="548640"/>
            </a:xfrm>
            <a:custGeom>
              <a:avLst/>
              <a:gdLst/>
              <a:ahLst/>
              <a:cxnLst/>
              <a:rect r="r" b="b" t="t" l="l"/>
              <a:pathLst>
                <a:path h="54864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4135" r="0" b="-42413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33502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52514E"/>
                  </a:solidFill>
                  <a:latin typeface="Leelawadee"/>
                  <a:ea typeface="Leelawadee"/>
                  <a:cs typeface="Leelawadee"/>
                  <a:sym typeface="Leelawadee"/>
                </a:rPr>
                <a:t>ถ้าคลิปเปิดไม่ได้ ใช้แผนที่ด้านขวาแทน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102414" y="2180272"/>
            <a:ext cx="6884911" cy="3687832"/>
            <a:chOff x="0" y="0"/>
            <a:chExt cx="8400440" cy="44996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400415" cy="4499610"/>
            </a:xfrm>
            <a:custGeom>
              <a:avLst/>
              <a:gdLst/>
              <a:ahLst/>
              <a:cxnLst/>
              <a:rect r="r" b="b" t="t" l="l"/>
              <a:pathLst>
                <a:path h="4499610" w="8400415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8253476" y="0"/>
                  </a:lnTo>
                  <a:cubicBezTo>
                    <a:pt x="8334629" y="0"/>
                    <a:pt x="8400415" y="65786"/>
                    <a:pt x="8400415" y="146939"/>
                  </a:cubicBezTo>
                  <a:lnTo>
                    <a:pt x="8400415" y="4352671"/>
                  </a:lnTo>
                  <a:cubicBezTo>
                    <a:pt x="8400415" y="4433824"/>
                    <a:pt x="8334629" y="4499610"/>
                    <a:pt x="8253476" y="4499610"/>
                  </a:cubicBezTo>
                  <a:lnTo>
                    <a:pt x="146939" y="4499610"/>
                  </a:lnTo>
                  <a:cubicBezTo>
                    <a:pt x="65786" y="4499610"/>
                    <a:pt x="0" y="4433824"/>
                    <a:pt x="0" y="4352671"/>
                  </a:cubicBezTo>
                  <a:close/>
                </a:path>
              </a:pathLst>
            </a:custGeom>
            <a:blipFill>
              <a:blip r:embed="rId4"/>
              <a:stretch>
                <a:fillRect l="0" t="-2507" r="0" b="-2507"/>
              </a:stretch>
            </a:blipFill>
            <a:ln w="14288" cap="sq">
              <a:solidFill>
                <a:srgbClr val="E4E3DF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822960" y="411480"/>
            <a:ext cx="16641623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A78D6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5 · Demo with Tool / Libraries / Coding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2960" y="877824"/>
            <a:ext cx="16641623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B0B0B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ข้อมูลสด: 69 เหตุการณ์ใหม่ใน 48.5 ชม. มี M7.7 ที่ปานามา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06553" y="6430645"/>
            <a:ext cx="5600243" cy="3027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2A78D6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ช่องปานามาสัปดาห์นี้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35 เหตุการณ์ (ปกติ 0.44 ต่อสัปดาห์)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คะแนน Isolation Forest 0.677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EB6834"/>
                </a:solidFill>
                <a:latin typeface="Leelawadee"/>
                <a:ea typeface="Leelawadee"/>
                <a:cs typeface="Leelawadee"/>
                <a:sym typeface="Leelawadee"/>
              </a:rPr>
              <a:t>ต่ำกว่าเกณฑ์ 0.683 จึงไม่ถูก flag เพราะสัปดาห์ยังไม่จบ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733063" y="9637395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2514E"/>
                </a:solidFill>
                <a:latin typeface="Leelawadee"/>
                <a:ea typeface="Leelawadee"/>
                <a:cs typeface="Leelawadee"/>
                <a:sym typeface="Leelawade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2514E"/>
                  </a:solidFill>
                  <a:latin typeface="Leelawadee"/>
                  <a:ea typeface="Leelawadee"/>
                  <a:cs typeface="Leelawadee"/>
                  <a:sym typeface="Leelawadee"/>
                </a:rPr>
                <a:t>Earthquake Analytics on Complex Data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2960" y="411480"/>
            <a:ext cx="16641623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A78D6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6 · Evaluation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2960" y="877824"/>
            <a:ext cx="16641623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B0B0B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Accuracy หลอกตา: ถูก 99.8% แต่จับ major ได้ 0 จาก 134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822960" y="2194560"/>
          <a:ext cx="16573500" cy="2590800"/>
        </p:xfrm>
        <a:graphic>
          <a:graphicData uri="http://schemas.openxmlformats.org/drawingml/2006/table">
            <a:tbl>
              <a:tblPr/>
              <a:tblGrid>
                <a:gridCol w="6424964"/>
                <a:gridCol w="1921516"/>
                <a:gridCol w="1921516"/>
                <a:gridCol w="1921516"/>
                <a:gridCol w="1651039"/>
                <a:gridCol w="2732948"/>
              </a:tblGrid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Leelawadee Bold"/>
                          <a:ea typeface="Leelawadee Bold"/>
                          <a:cs typeface="Leelawadee Bold"/>
                          <a:sym typeface="Leelawadee Bold"/>
                        </a:rPr>
                        <a:t>โมเดล (test, 2023 ขึ้นไป)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Leelawadee Bold"/>
                          <a:ea typeface="Leelawadee Bold"/>
                          <a:cs typeface="Leelawadee Bold"/>
                          <a:sym typeface="Leelawadee Bold"/>
                        </a:rPr>
                        <a:t>Accuracy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Leelawadee Bold"/>
                          <a:ea typeface="Leelawadee Bold"/>
                          <a:cs typeface="Leelawadee Bold"/>
                          <a:sym typeface="Leelawadee Bold"/>
                        </a:rPr>
                        <a:t>Precision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Leelawadee Bold"/>
                          <a:ea typeface="Leelawadee Bold"/>
                          <a:cs typeface="Leelawadee Bold"/>
                          <a:sym typeface="Leelawadee Bold"/>
                        </a:rPr>
                        <a:t>Recall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Leelawadee Bold"/>
                          <a:ea typeface="Leelawadee Bold"/>
                          <a:cs typeface="Leelawadee Bold"/>
                          <a:sym typeface="Leelawadee Bold"/>
                        </a:rPr>
                        <a:t>F1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Leelawadee Bold"/>
                          <a:ea typeface="Leelawadee Bold"/>
                          <a:cs typeface="Leelawadee Bold"/>
                          <a:sym typeface="Leelawadee Bold"/>
                        </a:rPr>
                        <a:t>PR-AUC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0 Naive baseline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0.974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0.023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0.239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0.043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0.012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1 LogReg ไม่จัดการ imbalance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EB6834"/>
                          </a:solidFill>
                          <a:latin typeface="Leelawadee Bold"/>
                          <a:ea typeface="Leelawadee Bold"/>
                          <a:cs typeface="Leelawadee Bold"/>
                          <a:sym typeface="Leelawadee Bold"/>
                        </a:rPr>
                        <a:t>0.998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0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0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0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0.043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0B0B0B"/>
                          </a:solidFill>
                          <a:latin typeface="Leelawadee Bold"/>
                          <a:ea typeface="Leelawadee Bold"/>
                          <a:cs typeface="Leelawadee Bold"/>
                          <a:sym typeface="Leelawadee Bold"/>
                        </a:rPr>
                        <a:t>5 LogReg + class weight + จูน threshold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0.992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0.055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0.142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EB6834"/>
                          </a:solidFill>
                          <a:latin typeface="Leelawadee Bold"/>
                          <a:ea typeface="Leelawadee Bold"/>
                          <a:cs typeface="Leelawadee Bold"/>
                          <a:sym typeface="Leelawadee Bold"/>
                        </a:rPr>
                        <a:t>0.079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B0B0B"/>
                          </a:solidFill>
                          <a:latin typeface="Leelawadee"/>
                          <a:ea typeface="Leelawadee"/>
                          <a:cs typeface="Leelawadee"/>
                          <a:sym typeface="Leelawadee"/>
                        </a:rPr>
                        <a:t>0.041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822960" y="5184648"/>
            <a:ext cx="6309360" cy="4101084"/>
            <a:chOff x="0" y="0"/>
            <a:chExt cx="8412480" cy="5468112"/>
          </a:xfrm>
        </p:grpSpPr>
        <p:sp>
          <p:nvSpPr>
            <p:cNvPr name="Freeform 9" id="9" descr="Precision-recall curve บน test"/>
            <p:cNvSpPr/>
            <p:nvPr/>
          </p:nvSpPr>
          <p:spPr>
            <a:xfrm flipH="false" flipV="false" rot="0">
              <a:off x="0" y="0"/>
              <a:ext cx="8412480" cy="5468112"/>
            </a:xfrm>
            <a:custGeom>
              <a:avLst/>
              <a:gdLst/>
              <a:ahLst/>
              <a:cxnLst/>
              <a:rect r="r" b="b" t="t" l="l"/>
              <a:pathLst>
                <a:path h="546811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5468112"/>
                  </a:lnTo>
                  <a:lnTo>
                    <a:pt x="0" y="5468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338060" y="5074920"/>
            <a:ext cx="9721215" cy="4320540"/>
            <a:chOff x="0" y="0"/>
            <a:chExt cx="12961620" cy="5760720"/>
          </a:xfrm>
        </p:grpSpPr>
        <p:sp>
          <p:nvSpPr>
            <p:cNvPr name="Freeform 11" id="11" descr="Confusion matrix: baseline เทียบโมเดลที่ดีที่สุด"/>
            <p:cNvSpPr/>
            <p:nvPr/>
          </p:nvSpPr>
          <p:spPr>
            <a:xfrm flipH="false" flipV="false" rot="0">
              <a:off x="0" y="0"/>
              <a:ext cx="12961620" cy="5760720"/>
            </a:xfrm>
            <a:custGeom>
              <a:avLst/>
              <a:gdLst/>
              <a:ahLst/>
              <a:cxnLst/>
              <a:rect r="r" b="b" t="t" l="l"/>
              <a:pathLst>
                <a:path h="5760720" w="12961620">
                  <a:moveTo>
                    <a:pt x="0" y="0"/>
                  </a:moveTo>
                  <a:lnTo>
                    <a:pt x="12961620" y="0"/>
                  </a:lnTo>
                  <a:lnTo>
                    <a:pt x="12961620" y="5760720"/>
                  </a:lnTo>
                  <a:lnTo>
                    <a:pt x="0" y="576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6733063" y="9637395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2514E"/>
                </a:solidFill>
                <a:latin typeface="Leelawadee"/>
                <a:ea typeface="Leelawadee"/>
                <a:cs typeface="Leelawadee"/>
                <a:sym typeface="Leelawadee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2514E"/>
                  </a:solidFill>
                  <a:latin typeface="Leelawadee"/>
                  <a:ea typeface="Leelawadee"/>
                  <a:cs typeface="Leelawadee"/>
                  <a:sym typeface="Leelawadee"/>
                </a:rPr>
                <a:t>Earthquake Analytics on Complex Data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2960" y="411480"/>
            <a:ext cx="16641623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A78D6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6 · Evaluation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2960" y="877824"/>
            <a:ext cx="16641623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B0B0B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ดีกว่าการสุ่ม และบอกข้อจำกัดตามจริง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15816" y="2187416"/>
            <a:ext cx="5294947" cy="7215188"/>
            <a:chOff x="0" y="0"/>
            <a:chExt cx="7059930" cy="962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59930" cy="9620250"/>
            </a:xfrm>
            <a:custGeom>
              <a:avLst/>
              <a:gdLst/>
              <a:ahLst/>
              <a:cxnLst/>
              <a:rect r="r" b="b" t="t" l="l"/>
              <a:pathLst>
                <a:path h="9620250" w="705993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6913245" y="0"/>
                  </a:lnTo>
                  <a:cubicBezTo>
                    <a:pt x="6994271" y="0"/>
                    <a:pt x="7059930" y="65659"/>
                    <a:pt x="7059930" y="146685"/>
                  </a:cubicBezTo>
                  <a:lnTo>
                    <a:pt x="7059930" y="9473565"/>
                  </a:lnTo>
                  <a:cubicBezTo>
                    <a:pt x="7059930" y="9554591"/>
                    <a:pt x="6994271" y="9620250"/>
                    <a:pt x="6913245" y="9620250"/>
                  </a:cubicBezTo>
                  <a:lnTo>
                    <a:pt x="146685" y="9620250"/>
                  </a:lnTo>
                  <a:cubicBezTo>
                    <a:pt x="65659" y="9620250"/>
                    <a:pt x="0" y="9554591"/>
                    <a:pt x="0" y="947356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4E3D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34440" y="2331720"/>
            <a:ext cx="4526280" cy="960120"/>
            <a:chOff x="0" y="0"/>
            <a:chExt cx="6035040" cy="12801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350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6035040" cy="128968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A78D6"/>
                  </a:solidFill>
                  <a:latin typeface="Leelawadee Bold"/>
                  <a:ea typeface="Leelawadee Bold"/>
                  <a:cs typeface="Leelawadee Bold"/>
                  <a:sym typeface="Leelawadee Bold"/>
                </a:rPr>
                <a:t>16 เท่า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34440" y="3360420"/>
            <a:ext cx="452628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PR-AUC ของโมเดลที่ดีที่สุดเทียบการสุ่ม (0.041 ต่อ 0.0025)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34440" y="4594860"/>
            <a:ext cx="4526280" cy="960120"/>
            <a:chOff x="0" y="0"/>
            <a:chExt cx="6035040" cy="1280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350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6035040" cy="128968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A78D6"/>
                  </a:solidFill>
                  <a:latin typeface="Leelawadee Bold"/>
                  <a:ea typeface="Leelawadee Bold"/>
                  <a:cs typeface="Leelawadee Bold"/>
                  <a:sym typeface="Leelawadee Bold"/>
                </a:rPr>
                <a:t>99.95%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34440" y="5623560"/>
            <a:ext cx="452628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ของ bootstrap 2,000 รอบที่ชนะ baseline (95% CI ของ F1 ที่เพิ่ม +0.013 ถึง +0.061)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34440" y="6858000"/>
            <a:ext cx="4526280" cy="960120"/>
            <a:chOff x="0" y="0"/>
            <a:chExt cx="6035040" cy="12801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350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6035040" cy="128968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EB6834"/>
                  </a:solidFill>
                  <a:latin typeface="Leelawadee Bold"/>
                  <a:ea typeface="Leelawadee Bold"/>
                  <a:cs typeface="Leelawadee Bold"/>
                  <a:sym typeface="Leelawadee Bold"/>
                </a:rPr>
                <a:t>19 / 345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34440" y="7886700"/>
            <a:ext cx="452628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คำเตือนที่ถูก: ใช้จัดอันดับความเสี่ยง ไม่ใช่ระบบเตือนภัย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696237" y="2194560"/>
            <a:ext cx="10587209" cy="4594860"/>
            <a:chOff x="0" y="0"/>
            <a:chExt cx="14116279" cy="6126480"/>
          </a:xfrm>
        </p:grpSpPr>
        <p:sp>
          <p:nvSpPr>
            <p:cNvPr name="Freeform 22" id="22" descr="ผล Isolation Forest แยกตามชุด feature"/>
            <p:cNvSpPr/>
            <p:nvPr/>
          </p:nvSpPr>
          <p:spPr>
            <a:xfrm flipH="false" flipV="false" rot="0">
              <a:off x="0" y="0"/>
              <a:ext cx="14116304" cy="6126480"/>
            </a:xfrm>
            <a:custGeom>
              <a:avLst/>
              <a:gdLst/>
              <a:ahLst/>
              <a:cxnLst/>
              <a:rect r="r" b="b" t="t" l="l"/>
              <a:pathLst>
                <a:path h="6126480" w="14116304">
                  <a:moveTo>
                    <a:pt x="0" y="0"/>
                  </a:moveTo>
                  <a:lnTo>
                    <a:pt x="14116304" y="0"/>
                  </a:lnTo>
                  <a:lnTo>
                    <a:pt x="14116304" y="6126480"/>
                  </a:lnTo>
                  <a:lnTo>
                    <a:pt x="0" y="6126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515100" y="6995160"/>
            <a:ext cx="10949483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b="true" sz="2100">
                <a:solidFill>
                  <a:srgbClr val="0B0B0B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Isolation Forest (test): </a:t>
            </a:r>
            <a:r>
              <a:rPr lang="en-US" sz="210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precision 0.424, recall 0.259 ดีกว่าสุ่ม 106 เท่า ถ้าใส่ขนาดสูงสุดได้ 0.759 = leakage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b="true" sz="2100">
                <a:solidFill>
                  <a:srgbClr val="0B0B0B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ST-DBSCAN: </a:t>
            </a:r>
            <a:r>
              <a:rPr lang="en-US" sz="210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noise 66.5% เหตุการณ์จริงอยู่ในคลัสเตอร์ครบ 5 จาก 5 จับ aftershock ได้ 94% ใหญ่สุด: ญี่ปุ่น 2011 (2,980), สุมาตรา 2004, คัมชัตกา 2025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733063" y="9637395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2514E"/>
                </a:solidFill>
                <a:latin typeface="Leelawadee"/>
                <a:ea typeface="Leelawadee"/>
                <a:cs typeface="Leelawadee"/>
                <a:sym typeface="Leelawadee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2514E"/>
                  </a:solidFill>
                  <a:latin typeface="Leelawadee"/>
                  <a:ea typeface="Leelawadee"/>
                  <a:cs typeface="Leelawadee"/>
                  <a:sym typeface="Leelawadee"/>
                </a:rPr>
                <a:t>Earthquake Analytics on Complex Data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2960" y="411480"/>
            <a:ext cx="16641623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A78D6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7 · List of Possible Applications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2960" y="877824"/>
            <a:ext cx="16641623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B0B0B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เครื่องมือจัดลำดับความเสี่ยง ไม่ใช่การพยากรณ์แผ่นดินไหว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15816" y="2187416"/>
            <a:ext cx="8129359" cy="3306128"/>
            <a:chOff x="0" y="0"/>
            <a:chExt cx="10839145" cy="44081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39196" cy="4408170"/>
            </a:xfrm>
            <a:custGeom>
              <a:avLst/>
              <a:gdLst/>
              <a:ahLst/>
              <a:cxnLst/>
              <a:rect r="r" b="b" t="t" l="l"/>
              <a:pathLst>
                <a:path h="4408170" w="10839196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10692257" y="0"/>
                  </a:lnTo>
                  <a:cubicBezTo>
                    <a:pt x="10773410" y="0"/>
                    <a:pt x="10839196" y="65786"/>
                    <a:pt x="10839196" y="146939"/>
                  </a:cubicBezTo>
                  <a:lnTo>
                    <a:pt x="10839196" y="4261231"/>
                  </a:lnTo>
                  <a:cubicBezTo>
                    <a:pt x="10839196" y="4342384"/>
                    <a:pt x="10773410" y="4408170"/>
                    <a:pt x="10692257" y="4408170"/>
                  </a:cubicBezTo>
                  <a:lnTo>
                    <a:pt x="146939" y="4408170"/>
                  </a:lnTo>
                  <a:cubicBezTo>
                    <a:pt x="65786" y="4408170"/>
                    <a:pt x="0" y="4342384"/>
                    <a:pt x="0" y="426123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4E3D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34440" y="2537460"/>
            <a:ext cx="822960" cy="822960"/>
            <a:chOff x="0" y="0"/>
            <a:chExt cx="109728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0972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EB6834"/>
                  </a:solidFill>
                  <a:latin typeface="Leelawadee Bold"/>
                  <a:ea typeface="Leelawadee Bold"/>
                  <a:cs typeface="Leelawadee Bold"/>
                  <a:sym typeface="Leelawadee Bold"/>
                </a:rPr>
                <a:t>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194560" y="2606040"/>
            <a:ext cx="6331991" cy="685800"/>
            <a:chOff x="0" y="0"/>
            <a:chExt cx="8442655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442656" cy="914400"/>
            </a:xfrm>
            <a:custGeom>
              <a:avLst/>
              <a:gdLst/>
              <a:ahLst/>
              <a:cxnLst/>
              <a:rect r="r" b="b" t="t" l="l"/>
              <a:pathLst>
                <a:path h="914400" w="8442656">
                  <a:moveTo>
                    <a:pt x="0" y="0"/>
                  </a:moveTo>
                  <a:lnTo>
                    <a:pt x="8442656" y="0"/>
                  </a:lnTo>
                  <a:lnTo>
                    <a:pt x="844265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905" r="0" b="-12990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8442655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B0B0B"/>
                  </a:solidFill>
                  <a:latin typeface="Leelawadee Bold"/>
                  <a:ea typeface="Leelawadee Bold"/>
                  <a:cs typeface="Leelawadee Bold"/>
                  <a:sym typeface="Leelawadee Bold"/>
                </a:rPr>
                <a:t>ประกันภัย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194560" y="3419475"/>
            <a:ext cx="6331991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จัดอันดับพื้นที่ตามคะแนนความเสี่ยงรายเดือน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194560" y="4594860"/>
            <a:ext cx="6331991" cy="548640"/>
            <a:chOff x="0" y="0"/>
            <a:chExt cx="8442655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442656" cy="731520"/>
            </a:xfrm>
            <a:custGeom>
              <a:avLst/>
              <a:gdLst/>
              <a:ahLst/>
              <a:cxnLst/>
              <a:rect r="r" b="b" t="t" l="l"/>
              <a:pathLst>
                <a:path h="731520" w="8442656">
                  <a:moveTo>
                    <a:pt x="0" y="0"/>
                  </a:moveTo>
                  <a:lnTo>
                    <a:pt x="8442656" y="0"/>
                  </a:lnTo>
                  <a:lnTo>
                    <a:pt x="84426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4881" r="0" b="-17488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8442655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2A78D6"/>
                  </a:solidFill>
                  <a:latin typeface="Leelawadee Bold"/>
                  <a:ea typeface="Leelawadee Bold"/>
                  <a:cs typeface="Leelawadee Bold"/>
                  <a:sym typeface="Leelawadee Bold"/>
                </a:rPr>
                <a:t>ใช้: Classifier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342368" y="2187416"/>
            <a:ext cx="8129359" cy="3306128"/>
            <a:chOff x="0" y="0"/>
            <a:chExt cx="10839145" cy="44081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839196" cy="4408170"/>
            </a:xfrm>
            <a:custGeom>
              <a:avLst/>
              <a:gdLst/>
              <a:ahLst/>
              <a:cxnLst/>
              <a:rect r="r" b="b" t="t" l="l"/>
              <a:pathLst>
                <a:path h="4408170" w="10839196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10692257" y="0"/>
                  </a:lnTo>
                  <a:cubicBezTo>
                    <a:pt x="10773410" y="0"/>
                    <a:pt x="10839196" y="65786"/>
                    <a:pt x="10839196" y="146939"/>
                  </a:cubicBezTo>
                  <a:lnTo>
                    <a:pt x="10839196" y="4261231"/>
                  </a:lnTo>
                  <a:cubicBezTo>
                    <a:pt x="10839196" y="4342384"/>
                    <a:pt x="10773410" y="4408170"/>
                    <a:pt x="10692257" y="4408170"/>
                  </a:cubicBezTo>
                  <a:lnTo>
                    <a:pt x="146939" y="4408170"/>
                  </a:lnTo>
                  <a:cubicBezTo>
                    <a:pt x="65786" y="4408170"/>
                    <a:pt x="0" y="4342384"/>
                    <a:pt x="0" y="426123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4E3DF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760991" y="2537460"/>
            <a:ext cx="822960" cy="822960"/>
            <a:chOff x="0" y="0"/>
            <a:chExt cx="109728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10972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EB6834"/>
                  </a:solidFill>
                  <a:latin typeface="Leelawadee Bold"/>
                  <a:ea typeface="Leelawadee Bold"/>
                  <a:cs typeface="Leelawadee Bold"/>
                  <a:sym typeface="Leelawadee Bold"/>
                </a:rPr>
                <a:t>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721111" y="2606040"/>
            <a:ext cx="6331991" cy="685800"/>
            <a:chOff x="0" y="0"/>
            <a:chExt cx="8442655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442656" cy="914400"/>
            </a:xfrm>
            <a:custGeom>
              <a:avLst/>
              <a:gdLst/>
              <a:ahLst/>
              <a:cxnLst/>
              <a:rect r="r" b="b" t="t" l="l"/>
              <a:pathLst>
                <a:path h="914400" w="8442656">
                  <a:moveTo>
                    <a:pt x="0" y="0"/>
                  </a:moveTo>
                  <a:lnTo>
                    <a:pt x="8442656" y="0"/>
                  </a:lnTo>
                  <a:lnTo>
                    <a:pt x="844265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905" r="0" b="-12990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8442655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B0B0B"/>
                  </a:solidFill>
                  <a:latin typeface="Leelawadee Bold"/>
                  <a:ea typeface="Leelawadee Bold"/>
                  <a:cs typeface="Leelawadee Bold"/>
                  <a:sym typeface="Leelawadee Bold"/>
                </a:rPr>
                <a:t>วางแผนตรวจสอบอาคาร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721111" y="3419475"/>
            <a:ext cx="6331991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ตรวจพื้นที่ที่คะแนนสูงก่อน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721111" y="4594860"/>
            <a:ext cx="6331991" cy="548640"/>
            <a:chOff x="0" y="0"/>
            <a:chExt cx="8442655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442656" cy="731520"/>
            </a:xfrm>
            <a:custGeom>
              <a:avLst/>
              <a:gdLst/>
              <a:ahLst/>
              <a:cxnLst/>
              <a:rect r="r" b="b" t="t" l="l"/>
              <a:pathLst>
                <a:path h="731520" w="8442656">
                  <a:moveTo>
                    <a:pt x="0" y="0"/>
                  </a:moveTo>
                  <a:lnTo>
                    <a:pt x="8442656" y="0"/>
                  </a:lnTo>
                  <a:lnTo>
                    <a:pt x="84426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4881" r="0" b="-17488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8442655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2A78D6"/>
                  </a:solidFill>
                  <a:latin typeface="Leelawadee Bold"/>
                  <a:ea typeface="Leelawadee Bold"/>
                  <a:cs typeface="Leelawadee Bold"/>
                  <a:sym typeface="Leelawadee Bold"/>
                </a:rPr>
                <a:t>ใช้: Classifier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15816" y="5822156"/>
            <a:ext cx="8129359" cy="3306128"/>
            <a:chOff x="0" y="0"/>
            <a:chExt cx="10839145" cy="44081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839196" cy="4408170"/>
            </a:xfrm>
            <a:custGeom>
              <a:avLst/>
              <a:gdLst/>
              <a:ahLst/>
              <a:cxnLst/>
              <a:rect r="r" b="b" t="t" l="l"/>
              <a:pathLst>
                <a:path h="4408170" w="10839196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10692257" y="0"/>
                  </a:lnTo>
                  <a:cubicBezTo>
                    <a:pt x="10773410" y="0"/>
                    <a:pt x="10839196" y="65786"/>
                    <a:pt x="10839196" y="146939"/>
                  </a:cubicBezTo>
                  <a:lnTo>
                    <a:pt x="10839196" y="4261231"/>
                  </a:lnTo>
                  <a:cubicBezTo>
                    <a:pt x="10839196" y="4342384"/>
                    <a:pt x="10773410" y="4408170"/>
                    <a:pt x="10692257" y="4408170"/>
                  </a:cubicBezTo>
                  <a:lnTo>
                    <a:pt x="146939" y="4408170"/>
                  </a:lnTo>
                  <a:cubicBezTo>
                    <a:pt x="65786" y="4408170"/>
                    <a:pt x="0" y="4342384"/>
                    <a:pt x="0" y="426123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4E3DF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34440" y="6172200"/>
            <a:ext cx="822960" cy="822960"/>
            <a:chOff x="0" y="0"/>
            <a:chExt cx="1097280" cy="10972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10972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EB6834"/>
                  </a:solidFill>
                  <a:latin typeface="Leelawadee Bold"/>
                  <a:ea typeface="Leelawadee Bold"/>
                  <a:cs typeface="Leelawadee Bold"/>
                  <a:sym typeface="Leelawadee Bold"/>
                </a:rPr>
                <a:t>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194560" y="6240780"/>
            <a:ext cx="6331991" cy="685800"/>
            <a:chOff x="0" y="0"/>
            <a:chExt cx="8442655" cy="914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442656" cy="914400"/>
            </a:xfrm>
            <a:custGeom>
              <a:avLst/>
              <a:gdLst/>
              <a:ahLst/>
              <a:cxnLst/>
              <a:rect r="r" b="b" t="t" l="l"/>
              <a:pathLst>
                <a:path h="914400" w="8442656">
                  <a:moveTo>
                    <a:pt x="0" y="0"/>
                  </a:moveTo>
                  <a:lnTo>
                    <a:pt x="8442656" y="0"/>
                  </a:lnTo>
                  <a:lnTo>
                    <a:pt x="844265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905" r="0" b="-12990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8442655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B0B0B"/>
                  </a:solidFill>
                  <a:latin typeface="Leelawadee Bold"/>
                  <a:ea typeface="Leelawadee Bold"/>
                  <a:cs typeface="Leelawadee Bold"/>
                  <a:sym typeface="Leelawadee Bold"/>
                </a:rPr>
                <a:t>ติดตาม aftershock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2194560" y="7054215"/>
            <a:ext cx="6331991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หลังเหตุใหญ่ กลุ่มยังขยายอยู่ไหม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2194560" y="8229600"/>
            <a:ext cx="6331991" cy="548640"/>
            <a:chOff x="0" y="0"/>
            <a:chExt cx="8442655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442656" cy="731520"/>
            </a:xfrm>
            <a:custGeom>
              <a:avLst/>
              <a:gdLst/>
              <a:ahLst/>
              <a:cxnLst/>
              <a:rect r="r" b="b" t="t" l="l"/>
              <a:pathLst>
                <a:path h="731520" w="8442656">
                  <a:moveTo>
                    <a:pt x="0" y="0"/>
                  </a:moveTo>
                  <a:lnTo>
                    <a:pt x="8442656" y="0"/>
                  </a:lnTo>
                  <a:lnTo>
                    <a:pt x="84426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4881" r="0" b="-17488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8442655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2A78D6"/>
                  </a:solidFill>
                  <a:latin typeface="Leelawadee Bold"/>
                  <a:ea typeface="Leelawadee Bold"/>
                  <a:cs typeface="Leelawadee Bold"/>
                  <a:sym typeface="Leelawadee Bold"/>
                </a:rPr>
                <a:t>ใช้: ST-DBSCAN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342368" y="5822156"/>
            <a:ext cx="8129359" cy="3306128"/>
            <a:chOff x="0" y="0"/>
            <a:chExt cx="10839145" cy="44081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839196" cy="4408170"/>
            </a:xfrm>
            <a:custGeom>
              <a:avLst/>
              <a:gdLst/>
              <a:ahLst/>
              <a:cxnLst/>
              <a:rect r="r" b="b" t="t" l="l"/>
              <a:pathLst>
                <a:path h="4408170" w="10839196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10692257" y="0"/>
                  </a:lnTo>
                  <a:cubicBezTo>
                    <a:pt x="10773410" y="0"/>
                    <a:pt x="10839196" y="65786"/>
                    <a:pt x="10839196" y="146939"/>
                  </a:cubicBezTo>
                  <a:lnTo>
                    <a:pt x="10839196" y="4261231"/>
                  </a:lnTo>
                  <a:cubicBezTo>
                    <a:pt x="10839196" y="4342384"/>
                    <a:pt x="10773410" y="4408170"/>
                    <a:pt x="10692257" y="4408170"/>
                  </a:cubicBezTo>
                  <a:lnTo>
                    <a:pt x="146939" y="4408170"/>
                  </a:lnTo>
                  <a:cubicBezTo>
                    <a:pt x="65786" y="4408170"/>
                    <a:pt x="0" y="4342384"/>
                    <a:pt x="0" y="426123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4E3DF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760991" y="6172200"/>
            <a:ext cx="822960" cy="822960"/>
            <a:chOff x="0" y="0"/>
            <a:chExt cx="1097280" cy="10972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10972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EB6834"/>
                  </a:solidFill>
                  <a:latin typeface="Leelawadee Bold"/>
                  <a:ea typeface="Leelawadee Bold"/>
                  <a:cs typeface="Leelawadee Bold"/>
                  <a:sym typeface="Leelawadee Bold"/>
                </a:rPr>
                <a:t>4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721111" y="6240780"/>
            <a:ext cx="6331991" cy="685800"/>
            <a:chOff x="0" y="0"/>
            <a:chExt cx="8442655" cy="914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442656" cy="914400"/>
            </a:xfrm>
            <a:custGeom>
              <a:avLst/>
              <a:gdLst/>
              <a:ahLst/>
              <a:cxnLst/>
              <a:rect r="r" b="b" t="t" l="l"/>
              <a:pathLst>
                <a:path h="914400" w="8442656">
                  <a:moveTo>
                    <a:pt x="0" y="0"/>
                  </a:moveTo>
                  <a:lnTo>
                    <a:pt x="8442656" y="0"/>
                  </a:lnTo>
                  <a:lnTo>
                    <a:pt x="844265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905" r="0" b="-12990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8442655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B0B0B"/>
                  </a:solidFill>
                  <a:latin typeface="Leelawadee Bold"/>
                  <a:ea typeface="Leelawadee Bold"/>
                  <a:cs typeface="Leelawadee Bold"/>
                  <a:sym typeface="Leelawadee Bold"/>
                </a:rPr>
                <a:t>Dashboard แบบ real-time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0721111" y="7054215"/>
            <a:ext cx="6331991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usgs_fetch.py --loop 300 (ทุก 5 นาที) + เตือนช่องที่ผิดปกติ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0721111" y="8229600"/>
            <a:ext cx="6331991" cy="548640"/>
            <a:chOff x="0" y="0"/>
            <a:chExt cx="8442655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442656" cy="731520"/>
            </a:xfrm>
            <a:custGeom>
              <a:avLst/>
              <a:gdLst/>
              <a:ahLst/>
              <a:cxnLst/>
              <a:rect r="r" b="b" t="t" l="l"/>
              <a:pathLst>
                <a:path h="731520" w="8442656">
                  <a:moveTo>
                    <a:pt x="0" y="0"/>
                  </a:moveTo>
                  <a:lnTo>
                    <a:pt x="8442656" y="0"/>
                  </a:lnTo>
                  <a:lnTo>
                    <a:pt x="84426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4881" r="0" b="-17488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8442655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2A78D6"/>
                  </a:solidFill>
                  <a:latin typeface="Leelawadee Bold"/>
                  <a:ea typeface="Leelawadee Bold"/>
                  <a:cs typeface="Leelawadee Bold"/>
                  <a:sym typeface="Leelawadee Bold"/>
                </a:rPr>
                <a:t>ใช้: Isolation Forest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6733063" y="9637395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2514E"/>
                </a:solidFill>
                <a:latin typeface="Leelawadee"/>
                <a:ea typeface="Leelawadee"/>
                <a:cs typeface="Leelawadee"/>
                <a:sym typeface="Leelawadee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2514E"/>
                  </a:solidFill>
                  <a:latin typeface="Leelawadee"/>
                  <a:ea typeface="Leelawadee"/>
                  <a:cs typeface="Leelawadee"/>
                  <a:sym typeface="Leelawadee"/>
                </a:rPr>
                <a:t>Earthquake Analytics on Complex Data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2960" y="411480"/>
            <a:ext cx="16641623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A78D6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8 · References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2960" y="877824"/>
            <a:ext cx="16641623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B0B0B"/>
                </a:solidFill>
                <a:latin typeface="Leelawadee Bold"/>
                <a:ea typeface="Leelawadee Bold"/>
                <a:cs typeface="Leelawadee Bold"/>
                <a:sym typeface="Leelawadee Bold"/>
              </a:rPr>
              <a:t>เอกสารอ้างอิง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2960" y="2194560"/>
            <a:ext cx="16641623" cy="713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520"/>
              </a:lnSpc>
              <a:buAutoNum type="arabicPeriod" startAt="1"/>
            </a:pPr>
            <a:r>
              <a:rPr lang="en-US" sz="210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U.S. Geological Survey. FDSN Event Web Service. https://earthquake.usgs.gov/fdsnws/event/1/</a:t>
            </a:r>
          </a:p>
          <a:p>
            <a:pPr algn="l" marL="380048" indent="-190024" lvl="1">
              <a:lnSpc>
                <a:spcPts val="2520"/>
              </a:lnSpc>
              <a:buAutoNum type="arabicPeriod" startAt="1"/>
            </a:pPr>
            <a:r>
              <a:rPr lang="en-US" sz="210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Birant, D., &amp; Kut, A. (2007). ST-DBSCAN: An algorithm for clustering spatial-temporal data. Data &amp; Knowledge Engineering, 60(1), 208-221.</a:t>
            </a:r>
          </a:p>
          <a:p>
            <a:pPr algn="l" marL="380048" indent="-190024" lvl="1">
              <a:lnSpc>
                <a:spcPts val="2520"/>
              </a:lnSpc>
              <a:buAutoNum type="arabicPeriod" startAt="1"/>
            </a:pPr>
            <a:r>
              <a:rPr lang="en-US" sz="210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Liu, F. T., Ting, K. M., &amp; Zhou, Z.-H. (2008). Isolation Forest. IEEE ICDM 2008, 413-422.</a:t>
            </a:r>
          </a:p>
          <a:p>
            <a:pPr algn="l" marL="380048" indent="-190024" lvl="1">
              <a:lnSpc>
                <a:spcPts val="2520"/>
              </a:lnSpc>
              <a:buAutoNum type="arabicPeriod" startAt="1"/>
            </a:pPr>
            <a:r>
              <a:rPr lang="en-US" sz="210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Chawla, N. V., Bowyer, K. W., Hall, L. O., &amp; Kegelmeyer, W. P. (2002). SMOTE: Synthetic Minority Over-sampling Technique. JAIR, 16, 321-357.</a:t>
            </a:r>
          </a:p>
          <a:p>
            <a:pPr algn="l" marL="380048" indent="-190024" lvl="1">
              <a:lnSpc>
                <a:spcPts val="2520"/>
              </a:lnSpc>
              <a:buAutoNum type="arabicPeriod" startAt="1"/>
            </a:pPr>
            <a:r>
              <a:rPr lang="en-US" sz="210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Ke, G. et al. (2017). LightGBM: A highly efficient gradient boosting decision tree. NeurIPS 2017.</a:t>
            </a:r>
          </a:p>
          <a:p>
            <a:pPr algn="l" marL="380048" indent="-190024" lvl="1">
              <a:lnSpc>
                <a:spcPts val="2520"/>
              </a:lnSpc>
              <a:buAutoNum type="arabicPeriod" startAt="1"/>
            </a:pPr>
            <a:r>
              <a:rPr lang="en-US" sz="210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Pedregosa, F. et al. (2011). Scikit-learn: Machine learning in Python. JMLR, 12, 2825-2830.</a:t>
            </a:r>
          </a:p>
          <a:p>
            <a:pPr algn="l" marL="380048" indent="-190024" lvl="1">
              <a:lnSpc>
                <a:spcPts val="2520"/>
              </a:lnSpc>
              <a:buAutoNum type="arabicPeriod" startAt="1"/>
            </a:pPr>
            <a:r>
              <a:rPr lang="en-US" sz="210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Aki, K. (1965). Maximum likelihood estimate of b in the formula log N = a − bM. Bull. Earthquake Research Institute, 43, 237-239.</a:t>
            </a:r>
          </a:p>
          <a:p>
            <a:pPr algn="l" marL="380048" indent="-190024" lvl="1">
              <a:lnSpc>
                <a:spcPts val="2520"/>
              </a:lnSpc>
              <a:buAutoNum type="arabicPeriod" startAt="1"/>
            </a:pPr>
            <a:r>
              <a:rPr lang="en-US" sz="2100">
                <a:solidFill>
                  <a:srgbClr val="0B0B0B"/>
                </a:solidFill>
                <a:latin typeface="Leelawadee"/>
                <a:ea typeface="Leelawadee"/>
                <a:cs typeface="Leelawadee"/>
                <a:sym typeface="Leelawadee"/>
              </a:rPr>
              <a:t>เอกสาร library: pandas, imbalanced-learn, plotly, matplotlib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733063" y="9637395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2514E"/>
                </a:solidFill>
                <a:latin typeface="Leelawadee"/>
                <a:ea typeface="Leelawadee"/>
                <a:cs typeface="Leelawadee"/>
                <a:sym typeface="Leelawadee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2606040"/>
            <a:ext cx="16641623" cy="2606040"/>
            <a:chOff x="0" y="0"/>
            <a:chExt cx="22188830" cy="3474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88830" cy="3474720"/>
            </a:xfrm>
            <a:custGeom>
              <a:avLst/>
              <a:gdLst/>
              <a:ahLst/>
              <a:cxnLst/>
              <a:rect r="r" b="b" t="t" l="l"/>
              <a:pathLst>
                <a:path h="347472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427" r="0" b="-7442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88830" cy="348424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Leelawadee Bold"/>
                  <a:ea typeface="Leelawadee Bold"/>
                  <a:cs typeface="Leelawadee Bold"/>
                  <a:sym typeface="Leelawadee Bold"/>
                </a:rPr>
                <a:t>ขอบคุณครับ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2960" y="5476875"/>
            <a:ext cx="16641623" cy="371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86B6EF"/>
                </a:solidFill>
                <a:latin typeface="Leelawadee"/>
                <a:ea typeface="Leelawadee"/>
                <a:cs typeface="Leelawadee"/>
                <a:sym typeface="Leelawadee"/>
              </a:rPr>
              <a:t>ข้อมูลที่ซับซ้อนทั้งพื้นที่ เวลา imbalance และข้อมูลสด → 3 เทคนิคที่ดีกว่า baseline และการสุ่ม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86B6EF"/>
                </a:solidFill>
                <a:latin typeface="Leelawadee"/>
                <a:ea typeface="Leelawadee"/>
                <a:cs typeface="Leelawadee"/>
                <a:sym typeface="Leelawadee"/>
              </a:rPr>
              <a:t>แผ่นดินไหวยังทำนายยากโดยธรรมชาติ และเรารายงานตามจริง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86B6EF"/>
                </a:solidFill>
                <a:latin typeface="Leelawadee"/>
                <a:ea typeface="Leelawadee"/>
                <a:cs typeface="Leelawadee"/>
                <a:sym typeface="Leelawadee"/>
              </a:rPr>
              <a:t>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EB6834"/>
                </a:solidFill>
                <a:latin typeface="Leelawadee"/>
                <a:ea typeface="Leelawadee"/>
                <a:cs typeface="Leelawadee"/>
                <a:sym typeface="Leelawadee"/>
              </a:rPr>
              <a:t>github.com/tls123qq/Earthquake-project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DAHX0MaXXWg</dc:identifier>
  <dcterms:modified xsi:type="dcterms:W3CDTF">2011-08-01T06:04:30Z</dcterms:modified>
  <cp:revision>1</cp:revision>
  <dc:title>ขอบคุณครับ/ค่ะ</dc:title>
</cp:coreProperties>
</file>